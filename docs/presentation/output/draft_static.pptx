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r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nsa_white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48640"/>
            <a:ext cx="5405120" cy="868680"/>
          </a:xfrm>
          <a:prstGeom prst="rect">
            <a:avLst/>
          </a:prstGeom>
        </p:spPr>
      </p:pic>
      <p:pic>
        <p:nvPicPr>
          <p:cNvPr id="9" name="Picture 8" descr="agirh_white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5681" y="548640"/>
            <a:ext cx="1710213" cy="868680"/>
          </a:xfrm>
          <a:prstGeom prst="rect">
            <a:avLst/>
          </a:prstGeom>
        </p:spPr>
      </p:pic>
      <p:sp>
        <p:nvSpPr>
          <p:cNvPr id="10" name="breadcrumb"/>
          <p:cNvSpPr txBox="1"/>
          <p:nvPr/>
        </p:nvSpPr>
        <p:spPr>
          <a:xfrm>
            <a:off x="1523847" y="19202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spc="300" w="700">
                <a:solidFill>
                  <a:srgbClr val="8FC1F0"/>
                </a:solidFill>
                <a:latin typeface="Inter"/>
              </a:rPr>
              <a:t>STAGIAIRE INGÉNIEUR DATA &amp; IA</a:t>
            </a:r>
          </a:p>
        </p:txBody>
      </p:sp>
      <p:sp>
        <p:nvSpPr>
          <p:cNvPr id="11" name="titre"/>
          <p:cNvSpPr txBox="1"/>
          <p:nvPr/>
        </p:nvSpPr>
        <p:spPr>
          <a:xfrm>
            <a:off x="1523847" y="2286000"/>
            <a:ext cx="9144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400" b="0" w="800">
                <a:solidFill>
                  <a:srgbClr val="E6EDF7"/>
                </a:solidFill>
                <a:latin typeface="Inter"/>
              </a:rPr>
              <a:t>AGIRH</a:t>
            </a:r>
          </a:p>
        </p:txBody>
      </p:sp>
      <p:sp>
        <p:nvSpPr>
          <p:cNvPr id="12" name="corps"/>
          <p:cNvSpPr txBox="1"/>
          <p:nvPr/>
        </p:nvSpPr>
        <p:spPr>
          <a:xfrm>
            <a:off x="1523847" y="35204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 w="400">
                <a:solidFill>
                  <a:srgbClr val="93A0BF"/>
                </a:solidFill>
                <a:latin typeface="Inter"/>
              </a:rPr>
              <a:t>RAG, Sécurité &amp; Tests d'Architecture</a:t>
            </a:r>
          </a:p>
        </p:txBody>
      </p:sp>
      <p:sp>
        <p:nvSpPr>
          <p:cNvPr id="13" name="decor"/>
          <p:cNvSpPr/>
          <p:nvPr/>
        </p:nvSpPr>
        <p:spPr>
          <a:xfrm>
            <a:off x="4724247" y="4114800"/>
            <a:ext cx="2743200" cy="27432"/>
          </a:xfrm>
          <a:prstGeom prst="rect">
            <a:avLst/>
          </a:prstGeom>
          <a:solidFill>
            <a:srgbClr val="B5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rps"/>
          <p:cNvSpPr txBox="1"/>
          <p:nvPr/>
        </p:nvSpPr>
        <p:spPr>
          <a:xfrm>
            <a:off x="700887" y="4343400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0" w="700">
                <a:solidFill>
                  <a:srgbClr val="E6EDF7"/>
                </a:solidFill>
                <a:latin typeface="Inter"/>
              </a:rPr>
              <a:t>Komla Edem Wilfried TSETSE</a:t>
            </a:r>
          </a:p>
        </p:txBody>
      </p:sp>
      <p:sp>
        <p:nvSpPr>
          <p:cNvPr id="15" name="corps"/>
          <p:cNvSpPr txBox="1"/>
          <p:nvPr/>
        </p:nvSpPr>
        <p:spPr>
          <a:xfrm>
            <a:off x="700887" y="4709160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0" w="400">
                <a:solidFill>
                  <a:srgbClr val="93A0BF"/>
                </a:solidFill>
                <a:latin typeface="Inter"/>
              </a:rPr>
              <a:t>Élève Ingénieur — Filière GIDIA (Data Engineering &amp; IA)</a:t>
            </a:r>
          </a:p>
        </p:txBody>
      </p:sp>
      <p:sp>
        <p:nvSpPr>
          <p:cNvPr id="16" name="corps"/>
          <p:cNvSpPr txBox="1"/>
          <p:nvPr/>
        </p:nvSpPr>
        <p:spPr>
          <a:xfrm>
            <a:off x="700887" y="5029200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0" w="400">
                <a:solidFill>
                  <a:srgbClr val="93A0BF"/>
                </a:solidFill>
                <a:latin typeface="Inter"/>
              </a:rPr>
              <a:t>École Nationale des Sciences Appliquées — Safi (ENSA Safi)</a:t>
            </a:r>
          </a:p>
        </p:txBody>
      </p:sp>
      <p:sp>
        <p:nvSpPr>
          <p:cNvPr id="17" name="corps"/>
          <p:cNvSpPr txBox="1"/>
          <p:nvPr/>
        </p:nvSpPr>
        <p:spPr>
          <a:xfrm>
            <a:off x="700887" y="5349240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0" w="400">
                <a:solidFill>
                  <a:srgbClr val="93A0BF"/>
                </a:solidFill>
                <a:latin typeface="Inter"/>
              </a:rPr>
              <a:t>AGIRH — Casablanca</a:t>
            </a:r>
          </a:p>
        </p:txBody>
      </p:sp>
      <p:sp>
        <p:nvSpPr>
          <p:cNvPr id="18" name="corps"/>
          <p:cNvSpPr txBox="1"/>
          <p:nvPr/>
        </p:nvSpPr>
        <p:spPr>
          <a:xfrm>
            <a:off x="975207" y="5760720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500" b="0">
                <a:solidFill>
                  <a:srgbClr val="93A0BF"/>
                </a:solidFill>
                <a:latin typeface="Inter"/>
              </a:rPr>
              <a:t>Tuteur école : [Tuteur école — à compléter]</a:t>
            </a:r>
          </a:p>
        </p:txBody>
      </p:sp>
      <p:sp>
        <p:nvSpPr>
          <p:cNvPr id="19" name="corps"/>
          <p:cNvSpPr txBox="1"/>
          <p:nvPr/>
        </p:nvSpPr>
        <p:spPr>
          <a:xfrm>
            <a:off x="6461607" y="5760720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93A0BF"/>
                </a:solidFill>
                <a:latin typeface="Inter"/>
              </a:rPr>
              <a:t>Tuteur entreprise : M. Rachid DIDI ALAOUI</a:t>
            </a:r>
          </a:p>
        </p:txBody>
      </p:sp>
      <p:sp>
        <p:nvSpPr>
          <p:cNvPr id="20" name="date"/>
          <p:cNvSpPr txBox="1"/>
          <p:nvPr/>
        </p:nvSpPr>
        <p:spPr>
          <a:xfrm>
            <a:off x="700887" y="6172200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B6B8C"/>
                </a:solidFill>
                <a:latin typeface="Inter"/>
              </a:rPr>
              <a:t>Soutenance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8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02 / 26</a:t>
            </a:r>
          </a:p>
        </p:txBody>
      </p:sp>
      <p:sp>
        <p:nvSpPr>
          <p:cNvPr id="9" name="titre"/>
          <p:cNvSpPr txBox="1"/>
          <p:nvPr/>
        </p:nvSpPr>
        <p:spPr>
          <a:xfrm>
            <a:off x="685800" y="1371600"/>
            <a:ext cx="107899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0" w="800">
                <a:solidFill>
                  <a:srgbClr val="E6EDF7"/>
                </a:solidFill>
                <a:latin typeface="Inter"/>
              </a:rPr>
              <a:t>Un pipeline IA multi-agents déployé de bout en bout</a:t>
            </a:r>
          </a:p>
        </p:txBody>
      </p:sp>
      <p:sp>
        <p:nvSpPr>
          <p:cNvPr id="10" name="corps"/>
          <p:cNvSpPr txBox="1"/>
          <p:nvPr/>
        </p:nvSpPr>
        <p:spPr>
          <a:xfrm>
            <a:off x="685800" y="27432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0" w="500">
                <a:solidFill>
                  <a:srgbClr val="8FC1F0"/>
                </a:solidFill>
                <a:latin typeface="Inter"/>
              </a:rPr>
              <a:t>RAG vectoriel · RBAC fail-closed · Streaming SSE · 90 tests verts</a:t>
            </a:r>
          </a:p>
        </p:txBody>
      </p:sp>
      <p:sp>
        <p:nvSpPr>
          <p:cNvPr id="11" name="kpi_0"/>
          <p:cNvSpPr/>
          <p:nvPr/>
        </p:nvSpPr>
        <p:spPr>
          <a:xfrm>
            <a:off x="685800" y="3657600"/>
            <a:ext cx="3383280" cy="2103120"/>
          </a:xfrm>
          <a:prstGeom prst="roundRect">
            <a:avLst>
              <a:gd name="adj" fmla="val 10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cor"/>
          <p:cNvSpPr/>
          <p:nvPr/>
        </p:nvSpPr>
        <p:spPr>
          <a:xfrm>
            <a:off x="868680" y="3657600"/>
            <a:ext cx="3017520" cy="36576"/>
          </a:xfrm>
          <a:prstGeom prst="rect">
            <a:avLst/>
          </a:prstGeom>
          <a:solidFill>
            <a:srgbClr val="8FC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_v"/>
          <p:cNvSpPr txBox="1"/>
          <p:nvPr/>
        </p:nvSpPr>
        <p:spPr>
          <a:xfrm>
            <a:off x="914400" y="406908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0" w="800">
                <a:solidFill>
                  <a:srgbClr val="8FC1F0"/>
                </a:solidFill>
                <a:latin typeface="Inter"/>
              </a:rPr>
              <a:t>90/90</a:t>
            </a:r>
          </a:p>
        </p:txBody>
      </p:sp>
      <p:sp>
        <p:nvSpPr>
          <p:cNvPr id="14" name="kpi_l"/>
          <p:cNvSpPr txBox="1"/>
          <p:nvPr/>
        </p:nvSpPr>
        <p:spPr>
          <a:xfrm>
            <a:off x="914400" y="512064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93A0BF"/>
                </a:solidFill>
                <a:latin typeface="Inter"/>
              </a:rPr>
              <a:t>tests backend verts</a:t>
            </a:r>
          </a:p>
        </p:txBody>
      </p:sp>
      <p:sp>
        <p:nvSpPr>
          <p:cNvPr id="15" name="kpi_1"/>
          <p:cNvSpPr/>
          <p:nvPr/>
        </p:nvSpPr>
        <p:spPr>
          <a:xfrm>
            <a:off x="4343400" y="3657600"/>
            <a:ext cx="3383280" cy="2103120"/>
          </a:xfrm>
          <a:prstGeom prst="roundRect">
            <a:avLst>
              <a:gd name="adj" fmla="val 10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ecor"/>
          <p:cNvSpPr/>
          <p:nvPr/>
        </p:nvSpPr>
        <p:spPr>
          <a:xfrm>
            <a:off x="4526280" y="3657600"/>
            <a:ext cx="3017520" cy="36576"/>
          </a:xfrm>
          <a:prstGeom prst="rect">
            <a:avLst/>
          </a:prstGeom>
          <a:solidFill>
            <a:srgbClr val="E59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_v"/>
          <p:cNvSpPr txBox="1"/>
          <p:nvPr/>
        </p:nvSpPr>
        <p:spPr>
          <a:xfrm>
            <a:off x="4572000" y="406908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0" w="800">
                <a:solidFill>
                  <a:srgbClr val="E59B5F"/>
                </a:solidFill>
                <a:latin typeface="Inter"/>
              </a:rPr>
              <a:t>~30 ms</a:t>
            </a:r>
          </a:p>
        </p:txBody>
      </p:sp>
      <p:sp>
        <p:nvSpPr>
          <p:cNvPr id="18" name="kpi_l"/>
          <p:cNvSpPr txBox="1"/>
          <p:nvPr/>
        </p:nvSpPr>
        <p:spPr>
          <a:xfrm>
            <a:off x="4572000" y="512064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93A0BF"/>
                </a:solidFill>
                <a:latin typeface="Inter"/>
              </a:rPr>
              <a:t>par token en streaming SSE</a:t>
            </a:r>
          </a:p>
        </p:txBody>
      </p:sp>
      <p:sp>
        <p:nvSpPr>
          <p:cNvPr id="19" name="kpi_2"/>
          <p:cNvSpPr/>
          <p:nvPr/>
        </p:nvSpPr>
        <p:spPr>
          <a:xfrm>
            <a:off x="8001000" y="3657600"/>
            <a:ext cx="3383280" cy="2103120"/>
          </a:xfrm>
          <a:prstGeom prst="roundRect">
            <a:avLst>
              <a:gd name="adj" fmla="val 10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ecor"/>
          <p:cNvSpPr/>
          <p:nvPr/>
        </p:nvSpPr>
        <p:spPr>
          <a:xfrm>
            <a:off x="8183879" y="3657600"/>
            <a:ext cx="3017520" cy="36576"/>
          </a:xfrm>
          <a:prstGeom prst="rect">
            <a:avLst/>
          </a:prstGeom>
          <a:solidFill>
            <a:srgbClr val="8FC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_v"/>
          <p:cNvSpPr txBox="1"/>
          <p:nvPr/>
        </p:nvSpPr>
        <p:spPr>
          <a:xfrm>
            <a:off x="8229600" y="406908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0" w="800">
                <a:solidFill>
                  <a:srgbClr val="8FC1F0"/>
                </a:solidFill>
                <a:latin typeface="Inter"/>
              </a:rPr>
              <a:t>&lt; 200 ms</a:t>
            </a:r>
          </a:p>
        </p:txBody>
      </p:sp>
      <p:sp>
        <p:nvSpPr>
          <p:cNvPr id="22" name="kpi_l"/>
          <p:cNvSpPr txBox="1"/>
          <p:nvPr/>
        </p:nvSpPr>
        <p:spPr>
          <a:xfrm>
            <a:off x="8229600" y="512064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93A0BF"/>
                </a:solidFill>
                <a:latin typeface="Inter"/>
              </a:rPr>
              <a:t>salutations pré-LLM (0 appel modèle)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eadcrumb"/>
          <p:cNvSpPr txBox="1"/>
          <p:nvPr/>
        </p:nvSpPr>
        <p:spPr>
          <a:xfrm>
            <a:off x="685800" y="4572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spc="250" w="600">
                <a:solidFill>
                  <a:srgbClr val="8FC1F0"/>
                </a:solidFill>
                <a:latin typeface="Inter"/>
              </a:rPr>
              <a:t>PLAN</a:t>
            </a:r>
          </a:p>
        </p:txBody>
      </p:sp>
      <p:sp>
        <p:nvSpPr>
          <p:cNvPr id="8" name="titre"/>
          <p:cNvSpPr txBox="1"/>
          <p:nvPr/>
        </p:nvSpPr>
        <p:spPr>
          <a:xfrm>
            <a:off x="685800" y="74980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w="800">
                <a:solidFill>
                  <a:srgbClr val="E6EDF7"/>
                </a:solidFill>
                <a:latin typeface="Inter"/>
              </a:rPr>
              <a:t>Trajectoire</a:t>
            </a:r>
          </a:p>
        </p:txBody>
      </p:sp>
      <p:pic>
        <p:nvPicPr>
          <p:cNvPr id="9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10" name="carte"/>
          <p:cNvSpPr/>
          <p:nvPr/>
        </p:nvSpPr>
        <p:spPr>
          <a:xfrm>
            <a:off x="685800" y="1737360"/>
            <a:ext cx="566928" cy="566928"/>
          </a:xfrm>
          <a:prstGeom prst="roundRect">
            <a:avLst>
              <a:gd name="adj" fmla="val 20000"/>
            </a:avLst>
          </a:prstGeom>
          <a:solidFill>
            <a:srgbClr val="123680"/>
          </a:solidFill>
          <a:ln w="15875">
            <a:solidFill>
              <a:srgbClr val="659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/>
            <a:r>
              <a:rPr sz="2000" b="0" w="800">
                <a:solidFill>
                  <a:srgbClr val="8FC1F0"/>
                </a:solidFill>
                <a:latin typeface="Inter"/>
              </a:rPr>
              <a:t>01</a:t>
            </a:r>
          </a:p>
        </p:txBody>
      </p:sp>
      <p:pic>
        <p:nvPicPr>
          <p:cNvPr id="11" name="Picture 10" descr="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865376"/>
            <a:ext cx="310896" cy="310896"/>
          </a:xfrm>
          <a:prstGeom prst="rect">
            <a:avLst/>
          </a:prstGeom>
        </p:spPr>
      </p:pic>
      <p:sp>
        <p:nvSpPr>
          <p:cNvPr id="12" name="corps"/>
          <p:cNvSpPr txBox="1"/>
          <p:nvPr/>
        </p:nvSpPr>
        <p:spPr>
          <a:xfrm>
            <a:off x="2057400" y="171907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0" w="800">
                <a:solidFill>
                  <a:srgbClr val="E6EDF7"/>
                </a:solidFill>
                <a:latin typeface="Inter"/>
              </a:rPr>
              <a:t>Le Défi</a:t>
            </a:r>
          </a:p>
        </p:txBody>
      </p:sp>
      <p:sp>
        <p:nvSpPr>
          <p:cNvPr id="13" name="corps"/>
          <p:cNvSpPr txBox="1"/>
          <p:nvPr/>
        </p:nvSpPr>
        <p:spPr>
          <a:xfrm>
            <a:off x="4892040" y="1792224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93A0BF"/>
                </a:solidFill>
                <a:latin typeface="Inter"/>
              </a:rPr>
              <a:t>LLM vulnérables, données RH sensibles</a:t>
            </a:r>
          </a:p>
        </p:txBody>
      </p:sp>
      <p:sp>
        <p:nvSpPr>
          <p:cNvPr id="14" name="decor"/>
          <p:cNvSpPr/>
          <p:nvPr/>
        </p:nvSpPr>
        <p:spPr>
          <a:xfrm>
            <a:off x="4892040" y="2377439"/>
            <a:ext cx="6492240" cy="13716"/>
          </a:xfrm>
          <a:prstGeom prst="rect">
            <a:avLst/>
          </a:prstGeom>
          <a:solidFill>
            <a:srgbClr val="233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te"/>
          <p:cNvSpPr/>
          <p:nvPr/>
        </p:nvSpPr>
        <p:spPr>
          <a:xfrm>
            <a:off x="685800" y="2651760"/>
            <a:ext cx="566928" cy="566928"/>
          </a:xfrm>
          <a:prstGeom prst="roundRect">
            <a:avLst>
              <a:gd name="adj" fmla="val 20000"/>
            </a:avLst>
          </a:prstGeom>
          <a:solidFill>
            <a:srgbClr val="123680"/>
          </a:solidFill>
          <a:ln w="15875">
            <a:solidFill>
              <a:srgbClr val="659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/>
            <a:r>
              <a:rPr sz="2000" b="0" w="800">
                <a:solidFill>
                  <a:srgbClr val="8FC1F0"/>
                </a:solidFill>
                <a:latin typeface="Inter"/>
              </a:rPr>
              <a:t>02</a:t>
            </a:r>
          </a:p>
        </p:txBody>
      </p:sp>
      <p:pic>
        <p:nvPicPr>
          <p:cNvPr id="16" name="Picture 15" descr="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2779776"/>
            <a:ext cx="310896" cy="310896"/>
          </a:xfrm>
          <a:prstGeom prst="rect">
            <a:avLst/>
          </a:prstGeom>
        </p:spPr>
      </p:pic>
      <p:sp>
        <p:nvSpPr>
          <p:cNvPr id="17" name="corps"/>
          <p:cNvSpPr txBox="1"/>
          <p:nvPr/>
        </p:nvSpPr>
        <p:spPr>
          <a:xfrm>
            <a:off x="2057400" y="263347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0" w="800">
                <a:solidFill>
                  <a:srgbClr val="E6EDF7"/>
                </a:solidFill>
                <a:latin typeface="Inter"/>
              </a:rPr>
              <a:t>Le Bouclier</a:t>
            </a:r>
          </a:p>
        </p:txBody>
      </p:sp>
      <p:sp>
        <p:nvSpPr>
          <p:cNvPr id="18" name="corps"/>
          <p:cNvSpPr txBox="1"/>
          <p:nvPr/>
        </p:nvSpPr>
        <p:spPr>
          <a:xfrm>
            <a:off x="4892040" y="2706624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93A0BF"/>
                </a:solidFill>
                <a:latin typeface="Inter"/>
              </a:rPr>
              <a:t>Architecture Zero-Trust, pipeline Actor-Critic</a:t>
            </a:r>
          </a:p>
        </p:txBody>
      </p:sp>
      <p:sp>
        <p:nvSpPr>
          <p:cNvPr id="19" name="decor"/>
          <p:cNvSpPr/>
          <p:nvPr/>
        </p:nvSpPr>
        <p:spPr>
          <a:xfrm>
            <a:off x="4892040" y="3291839"/>
            <a:ext cx="6492240" cy="13716"/>
          </a:xfrm>
          <a:prstGeom prst="rect">
            <a:avLst/>
          </a:prstGeom>
          <a:solidFill>
            <a:srgbClr val="233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te"/>
          <p:cNvSpPr/>
          <p:nvPr/>
        </p:nvSpPr>
        <p:spPr>
          <a:xfrm>
            <a:off x="685800" y="3566160"/>
            <a:ext cx="566928" cy="566928"/>
          </a:xfrm>
          <a:prstGeom prst="roundRect">
            <a:avLst>
              <a:gd name="adj" fmla="val 20000"/>
            </a:avLst>
          </a:prstGeom>
          <a:solidFill>
            <a:srgbClr val="123680"/>
          </a:solidFill>
          <a:ln w="15875">
            <a:solidFill>
              <a:srgbClr val="659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/>
            <a:r>
              <a:rPr sz="2000" b="0" w="800">
                <a:solidFill>
                  <a:srgbClr val="8FC1F0"/>
                </a:solidFill>
                <a:latin typeface="Inter"/>
              </a:rPr>
              <a:t>03</a:t>
            </a:r>
          </a:p>
        </p:txBody>
      </p:sp>
      <p:pic>
        <p:nvPicPr>
          <p:cNvPr id="21" name="Picture 20" descr="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0" y="3694176"/>
            <a:ext cx="310896" cy="310896"/>
          </a:xfrm>
          <a:prstGeom prst="rect">
            <a:avLst/>
          </a:prstGeom>
        </p:spPr>
      </p:pic>
      <p:sp>
        <p:nvSpPr>
          <p:cNvPr id="22" name="corps"/>
          <p:cNvSpPr txBox="1"/>
          <p:nvPr/>
        </p:nvSpPr>
        <p:spPr>
          <a:xfrm>
            <a:off x="2057400" y="354787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0" w="800">
                <a:solidFill>
                  <a:srgbClr val="E6EDF7"/>
                </a:solidFill>
                <a:latin typeface="Inter"/>
              </a:rPr>
              <a:t>La Machinerie</a:t>
            </a:r>
          </a:p>
        </p:txBody>
      </p:sp>
      <p:sp>
        <p:nvSpPr>
          <p:cNvPr id="23" name="corps"/>
          <p:cNvSpPr txBox="1"/>
          <p:nvPr/>
        </p:nvSpPr>
        <p:spPr>
          <a:xfrm>
            <a:off x="4892040" y="3621024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93A0BF"/>
                </a:solidFill>
                <a:latin typeface="Inter"/>
              </a:rPr>
              <a:t>RAG vectoriel, use case métier, BFF sécurisé</a:t>
            </a:r>
          </a:p>
        </p:txBody>
      </p:sp>
      <p:sp>
        <p:nvSpPr>
          <p:cNvPr id="24" name="decor"/>
          <p:cNvSpPr/>
          <p:nvPr/>
        </p:nvSpPr>
        <p:spPr>
          <a:xfrm>
            <a:off x="4892040" y="4206240"/>
            <a:ext cx="6492240" cy="13716"/>
          </a:xfrm>
          <a:prstGeom prst="rect">
            <a:avLst/>
          </a:prstGeom>
          <a:solidFill>
            <a:srgbClr val="233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te"/>
          <p:cNvSpPr/>
          <p:nvPr/>
        </p:nvSpPr>
        <p:spPr>
          <a:xfrm>
            <a:off x="685800" y="4480560"/>
            <a:ext cx="566928" cy="566928"/>
          </a:xfrm>
          <a:prstGeom prst="roundRect">
            <a:avLst>
              <a:gd name="adj" fmla="val 20000"/>
            </a:avLst>
          </a:prstGeom>
          <a:solidFill>
            <a:srgbClr val="123680"/>
          </a:solidFill>
          <a:ln w="15875">
            <a:solidFill>
              <a:srgbClr val="659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/>
            <a:r>
              <a:rPr sz="2000" b="0" w="800">
                <a:solidFill>
                  <a:srgbClr val="8FC1F0"/>
                </a:solidFill>
                <a:latin typeface="Inter"/>
              </a:rPr>
              <a:t>04</a:t>
            </a:r>
          </a:p>
        </p:txBody>
      </p:sp>
      <p:pic>
        <p:nvPicPr>
          <p:cNvPr id="26" name="Picture 25" descr="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4480" y="4608576"/>
            <a:ext cx="310896" cy="310896"/>
          </a:xfrm>
          <a:prstGeom prst="rect">
            <a:avLst/>
          </a:prstGeom>
        </p:spPr>
      </p:pic>
      <p:sp>
        <p:nvSpPr>
          <p:cNvPr id="27" name="corps"/>
          <p:cNvSpPr txBox="1"/>
          <p:nvPr/>
        </p:nvSpPr>
        <p:spPr>
          <a:xfrm>
            <a:off x="2057400" y="446227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0" w="800">
                <a:solidFill>
                  <a:srgbClr val="E6EDF7"/>
                </a:solidFill>
                <a:latin typeface="Inter"/>
              </a:rPr>
              <a:t>La Validation</a:t>
            </a:r>
          </a:p>
        </p:txBody>
      </p:sp>
      <p:sp>
        <p:nvSpPr>
          <p:cNvPr id="28" name="corps"/>
          <p:cNvSpPr txBox="1"/>
          <p:nvPr/>
        </p:nvSpPr>
        <p:spPr>
          <a:xfrm>
            <a:off x="4892040" y="4535424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93A0BF"/>
                </a:solidFill>
                <a:latin typeface="Inter"/>
              </a:rPr>
              <a:t>90/90 tests, latences mesurées, audits GO</a:t>
            </a:r>
          </a:p>
        </p:txBody>
      </p:sp>
      <p:sp>
        <p:nvSpPr>
          <p:cNvPr id="29" name="decor"/>
          <p:cNvSpPr/>
          <p:nvPr/>
        </p:nvSpPr>
        <p:spPr>
          <a:xfrm>
            <a:off x="4892040" y="5120640"/>
            <a:ext cx="6492240" cy="13716"/>
          </a:xfrm>
          <a:prstGeom prst="rect">
            <a:avLst/>
          </a:prstGeom>
          <a:solidFill>
            <a:srgbClr val="233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03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r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r"/>
          <p:cNvSpPr txBox="1"/>
          <p:nvPr/>
        </p:nvSpPr>
        <p:spPr>
          <a:xfrm>
            <a:off x="7985455" y="128016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0" b="0" w="800">
                <a:solidFill>
                  <a:srgbClr val="111B33"/>
                </a:solidFill>
                <a:latin typeface="Inter"/>
              </a:rPr>
              <a:t>01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1523847" y="25146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spc="300" w="700">
                <a:solidFill>
                  <a:srgbClr val="E59B5F"/>
                </a:solidFill>
                <a:latin typeface="Inter"/>
              </a:rPr>
              <a:t>PARTIE 01</a:t>
            </a:r>
          </a:p>
        </p:txBody>
      </p:sp>
      <p:sp>
        <p:nvSpPr>
          <p:cNvPr id="10" name="titre"/>
          <p:cNvSpPr txBox="1"/>
          <p:nvPr/>
        </p:nvSpPr>
        <p:spPr>
          <a:xfrm>
            <a:off x="1523847" y="288036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000" b="0" w="800">
                <a:solidFill>
                  <a:srgbClr val="E6EDF7"/>
                </a:solidFill>
                <a:latin typeface="Inter"/>
              </a:rPr>
              <a:t>Le Défi</a:t>
            </a:r>
          </a:p>
        </p:txBody>
      </p:sp>
      <p:sp>
        <p:nvSpPr>
          <p:cNvPr id="11" name="decor"/>
          <p:cNvSpPr/>
          <p:nvPr/>
        </p:nvSpPr>
        <p:spPr>
          <a:xfrm>
            <a:off x="5181447" y="4069080"/>
            <a:ext cx="1828800" cy="27432"/>
          </a:xfrm>
          <a:prstGeom prst="rect">
            <a:avLst/>
          </a:prstGeom>
          <a:solidFill>
            <a:srgbClr val="B5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rps"/>
          <p:cNvSpPr txBox="1"/>
          <p:nvPr/>
        </p:nvSpPr>
        <p:spPr>
          <a:xfrm>
            <a:off x="1523847" y="42062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93A0BF"/>
                </a:solidFill>
                <a:latin typeface="Inter"/>
              </a:rPr>
              <a:t>Fiabiliser l'IA sur des données RH sensibles</a:t>
            </a:r>
          </a:p>
        </p:txBody>
      </p:sp>
      <p:sp>
        <p:nvSpPr>
          <p:cNvPr id="13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04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eadcrumb"/>
          <p:cNvSpPr txBox="1"/>
          <p:nvPr/>
        </p:nvSpPr>
        <p:spPr>
          <a:xfrm>
            <a:off x="685800" y="4572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spc="250" w="600">
                <a:solidFill>
                  <a:srgbClr val="8FC1F0"/>
                </a:solidFill>
                <a:latin typeface="Inter"/>
              </a:rPr>
              <a:t>01 · LE DÉFI</a:t>
            </a:r>
          </a:p>
        </p:txBody>
      </p:sp>
      <p:sp>
        <p:nvSpPr>
          <p:cNvPr id="8" name="titre"/>
          <p:cNvSpPr txBox="1"/>
          <p:nvPr/>
        </p:nvSpPr>
        <p:spPr>
          <a:xfrm>
            <a:off x="685800" y="74980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w="800">
                <a:solidFill>
                  <a:srgbClr val="E6EDF7"/>
                </a:solidFill>
                <a:latin typeface="Inter"/>
              </a:rPr>
              <a:t>Les LLM nus ne peuvent pas agir sur des données RH sensibles</a:t>
            </a:r>
          </a:p>
        </p:txBody>
      </p:sp>
      <p:pic>
        <p:nvPicPr>
          <p:cNvPr id="9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10" name="corps"/>
          <p:cNvSpPr txBox="1"/>
          <p:nvPr/>
        </p:nvSpPr>
        <p:spPr>
          <a:xfrm>
            <a:off x="685800" y="1920240"/>
            <a:ext cx="32918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 w="400">
                <a:solidFill>
                  <a:srgbClr val="93A0BF"/>
                </a:solidFill>
                <a:latin typeface="Inter"/>
              </a:rPr>
              <a:t>Hallucinations, accès croisés, latence : l'IA générative doit être encadrée avant de toucher au métier.</a:t>
            </a:r>
          </a:p>
        </p:txBody>
      </p:sp>
      <p:sp>
        <p:nvSpPr>
          <p:cNvPr id="11" name="carte"/>
          <p:cNvSpPr/>
          <p:nvPr/>
        </p:nvSpPr>
        <p:spPr>
          <a:xfrm>
            <a:off x="4343400" y="1920240"/>
            <a:ext cx="2225040" cy="1897380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cor"/>
          <p:cNvSpPr/>
          <p:nvPr/>
        </p:nvSpPr>
        <p:spPr>
          <a:xfrm>
            <a:off x="4453128" y="1920240"/>
            <a:ext cx="2005584" cy="27432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2066544"/>
            <a:ext cx="274320" cy="274320"/>
          </a:xfrm>
          <a:prstGeom prst="rect">
            <a:avLst/>
          </a:prstGeom>
        </p:spPr>
      </p:pic>
      <p:sp>
        <p:nvSpPr>
          <p:cNvPr id="14" name="carte_t"/>
          <p:cNvSpPr txBox="1"/>
          <p:nvPr/>
        </p:nvSpPr>
        <p:spPr>
          <a:xfrm>
            <a:off x="4489704" y="2395728"/>
            <a:ext cx="1932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Hallucinations</a:t>
            </a:r>
          </a:p>
        </p:txBody>
      </p:sp>
      <p:sp>
        <p:nvSpPr>
          <p:cNvPr id="15" name="carte_d"/>
          <p:cNvSpPr txBox="1"/>
          <p:nvPr/>
        </p:nvSpPr>
        <p:spPr>
          <a:xfrm>
            <a:off x="4489704" y="2688336"/>
            <a:ext cx="1932432" cy="1028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Une réponse inventée = une action métier fausse.</a:t>
            </a:r>
          </a:p>
        </p:txBody>
      </p:sp>
      <p:sp>
        <p:nvSpPr>
          <p:cNvPr id="16" name="carte"/>
          <p:cNvSpPr/>
          <p:nvPr/>
        </p:nvSpPr>
        <p:spPr>
          <a:xfrm>
            <a:off x="6797040" y="1920240"/>
            <a:ext cx="2225040" cy="1897380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3344" y="2066544"/>
            <a:ext cx="274320" cy="274320"/>
          </a:xfrm>
          <a:prstGeom prst="rect">
            <a:avLst/>
          </a:prstGeom>
        </p:spPr>
      </p:pic>
      <p:sp>
        <p:nvSpPr>
          <p:cNvPr id="18" name="carte_t"/>
          <p:cNvSpPr txBox="1"/>
          <p:nvPr/>
        </p:nvSpPr>
        <p:spPr>
          <a:xfrm>
            <a:off x="6943344" y="2395728"/>
            <a:ext cx="1932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Données confidentielles</a:t>
            </a:r>
          </a:p>
        </p:txBody>
      </p:sp>
      <p:sp>
        <p:nvSpPr>
          <p:cNvPr id="19" name="carte_d"/>
          <p:cNvSpPr txBox="1"/>
          <p:nvPr/>
        </p:nvSpPr>
        <p:spPr>
          <a:xfrm>
            <a:off x="6943344" y="2688336"/>
            <a:ext cx="1932432" cy="1028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Salaire, congés, onboarding : secrets d'entreprise.</a:t>
            </a:r>
          </a:p>
        </p:txBody>
      </p:sp>
      <p:sp>
        <p:nvSpPr>
          <p:cNvPr id="20" name="carte"/>
          <p:cNvSpPr/>
          <p:nvPr/>
        </p:nvSpPr>
        <p:spPr>
          <a:xfrm>
            <a:off x="9250680" y="1920240"/>
            <a:ext cx="2225040" cy="1897380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ecor"/>
          <p:cNvSpPr/>
          <p:nvPr/>
        </p:nvSpPr>
        <p:spPr>
          <a:xfrm>
            <a:off x="9360408" y="1920240"/>
            <a:ext cx="2005584" cy="27432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6984" y="2066544"/>
            <a:ext cx="274320" cy="274320"/>
          </a:xfrm>
          <a:prstGeom prst="rect">
            <a:avLst/>
          </a:prstGeom>
        </p:spPr>
      </p:pic>
      <p:sp>
        <p:nvSpPr>
          <p:cNvPr id="23" name="carte_t"/>
          <p:cNvSpPr txBox="1"/>
          <p:nvPr/>
        </p:nvSpPr>
        <p:spPr>
          <a:xfrm>
            <a:off x="9396984" y="2395728"/>
            <a:ext cx="1932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Accès par rôle</a:t>
            </a:r>
          </a:p>
        </p:txBody>
      </p:sp>
      <p:sp>
        <p:nvSpPr>
          <p:cNvPr id="24" name="carte_d"/>
          <p:cNvSpPr txBox="1"/>
          <p:nvPr/>
        </p:nvSpPr>
        <p:spPr>
          <a:xfrm>
            <a:off x="9396984" y="2688336"/>
            <a:ext cx="1932432" cy="1028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Admin, Manager, Collaborateur : périmètres distincts.</a:t>
            </a:r>
          </a:p>
        </p:txBody>
      </p:sp>
      <p:sp>
        <p:nvSpPr>
          <p:cNvPr id="25" name="carte"/>
          <p:cNvSpPr/>
          <p:nvPr/>
        </p:nvSpPr>
        <p:spPr>
          <a:xfrm>
            <a:off x="4343400" y="4046220"/>
            <a:ext cx="2225040" cy="1897380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bo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9704" y="4192524"/>
            <a:ext cx="274320" cy="274320"/>
          </a:xfrm>
          <a:prstGeom prst="rect">
            <a:avLst/>
          </a:prstGeom>
        </p:spPr>
      </p:pic>
      <p:sp>
        <p:nvSpPr>
          <p:cNvPr id="27" name="carte_t"/>
          <p:cNvSpPr txBox="1"/>
          <p:nvPr/>
        </p:nvSpPr>
        <p:spPr>
          <a:xfrm>
            <a:off x="4489704" y="4521708"/>
            <a:ext cx="1932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Temps réel</a:t>
            </a:r>
          </a:p>
        </p:txBody>
      </p:sp>
      <p:sp>
        <p:nvSpPr>
          <p:cNvPr id="28" name="carte_d"/>
          <p:cNvSpPr txBox="1"/>
          <p:nvPr/>
        </p:nvSpPr>
        <p:spPr>
          <a:xfrm>
            <a:off x="4489704" y="4814316"/>
            <a:ext cx="1932432" cy="1028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Réponse attendue en continu, pas en batch.</a:t>
            </a:r>
          </a:p>
        </p:txBody>
      </p:sp>
      <p:sp>
        <p:nvSpPr>
          <p:cNvPr id="29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05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eadcrumb"/>
          <p:cNvSpPr txBox="1"/>
          <p:nvPr/>
        </p:nvSpPr>
        <p:spPr>
          <a:xfrm>
            <a:off x="685800" y="4572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spc="250" w="600">
                <a:solidFill>
                  <a:srgbClr val="8FC1F0"/>
                </a:solidFill>
                <a:latin typeface="Inter"/>
              </a:rPr>
              <a:t>01 · LE DÉFI</a:t>
            </a:r>
          </a:p>
        </p:txBody>
      </p:sp>
      <p:sp>
        <p:nvSpPr>
          <p:cNvPr id="8" name="titre"/>
          <p:cNvSpPr txBox="1"/>
          <p:nvPr/>
        </p:nvSpPr>
        <p:spPr>
          <a:xfrm>
            <a:off x="685800" y="74980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w="800">
                <a:solidFill>
                  <a:srgbClr val="E6EDF7"/>
                </a:solidFill>
                <a:latin typeface="Inter"/>
              </a:rPr>
              <a:t>Zero-Trust par défaut : aucun accès sans preuve, aucune erreur ouverte</a:t>
            </a:r>
          </a:p>
        </p:txBody>
      </p:sp>
      <p:pic>
        <p:nvPicPr>
          <p:cNvPr id="9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10" name="carte"/>
          <p:cNvSpPr/>
          <p:nvPr/>
        </p:nvSpPr>
        <p:spPr>
          <a:xfrm>
            <a:off x="685800" y="182880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cor"/>
          <p:cNvSpPr/>
          <p:nvPr/>
        </p:nvSpPr>
        <p:spPr>
          <a:xfrm>
            <a:off x="795528" y="1828800"/>
            <a:ext cx="3234842" cy="27432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975104"/>
            <a:ext cx="274320" cy="274320"/>
          </a:xfrm>
          <a:prstGeom prst="rect">
            <a:avLst/>
          </a:prstGeom>
        </p:spPr>
      </p:pic>
      <p:sp>
        <p:nvSpPr>
          <p:cNvPr id="13" name="carte_t"/>
          <p:cNvSpPr txBox="1"/>
          <p:nvPr/>
        </p:nvSpPr>
        <p:spPr>
          <a:xfrm>
            <a:off x="832104" y="230428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Fail-closed</a:t>
            </a:r>
          </a:p>
        </p:txBody>
      </p:sp>
      <p:sp>
        <p:nvSpPr>
          <p:cNvPr id="14" name="carte_d"/>
          <p:cNvSpPr txBox="1"/>
          <p:nvPr/>
        </p:nvSpPr>
        <p:spPr>
          <a:xfrm>
            <a:off x="832104" y="259689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Tout défaut d'information → refus, jamais d'ouverture.</a:t>
            </a:r>
          </a:p>
        </p:txBody>
      </p:sp>
      <p:sp>
        <p:nvSpPr>
          <p:cNvPr id="15" name="carte"/>
          <p:cNvSpPr/>
          <p:nvPr/>
        </p:nvSpPr>
        <p:spPr>
          <a:xfrm>
            <a:off x="4368698" y="182880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5002" y="1975104"/>
            <a:ext cx="274320" cy="274320"/>
          </a:xfrm>
          <a:prstGeom prst="rect">
            <a:avLst/>
          </a:prstGeom>
        </p:spPr>
      </p:pic>
      <p:sp>
        <p:nvSpPr>
          <p:cNvPr id="17" name="carte_t"/>
          <p:cNvSpPr txBox="1"/>
          <p:nvPr/>
        </p:nvSpPr>
        <p:spPr>
          <a:xfrm>
            <a:off x="4515002" y="230428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Anti-énumération</a:t>
            </a:r>
          </a:p>
        </p:txBody>
      </p:sp>
      <p:sp>
        <p:nvSpPr>
          <p:cNvPr id="18" name="carte_d"/>
          <p:cNvSpPr txBox="1"/>
          <p:nvPr/>
        </p:nvSpPr>
        <p:spPr>
          <a:xfrm>
            <a:off x="4515002" y="259689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403 = 404 : une ressource inaccessible est introuvable.</a:t>
            </a:r>
          </a:p>
        </p:txBody>
      </p:sp>
      <p:sp>
        <p:nvSpPr>
          <p:cNvPr id="19" name="carte"/>
          <p:cNvSpPr/>
          <p:nvPr/>
        </p:nvSpPr>
        <p:spPr>
          <a:xfrm>
            <a:off x="8051596" y="182880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ecor"/>
          <p:cNvSpPr/>
          <p:nvPr/>
        </p:nvSpPr>
        <p:spPr>
          <a:xfrm>
            <a:off x="8161324" y="1828800"/>
            <a:ext cx="3234842" cy="27432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7900" y="1975104"/>
            <a:ext cx="274320" cy="274320"/>
          </a:xfrm>
          <a:prstGeom prst="rect">
            <a:avLst/>
          </a:prstGeom>
        </p:spPr>
      </p:pic>
      <p:sp>
        <p:nvSpPr>
          <p:cNvPr id="22" name="carte_t"/>
          <p:cNvSpPr txBox="1"/>
          <p:nvPr/>
        </p:nvSpPr>
        <p:spPr>
          <a:xfrm>
            <a:off x="8197900" y="230428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TOCTOU neutralisé</a:t>
            </a:r>
          </a:p>
        </p:txBody>
      </p:sp>
      <p:sp>
        <p:nvSpPr>
          <p:cNvPr id="23" name="carte_d"/>
          <p:cNvSpPr txBox="1"/>
          <p:nvPr/>
        </p:nvSpPr>
        <p:spPr>
          <a:xfrm>
            <a:off x="8197900" y="259689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Index unique filtré : un seul Pending par employé.</a:t>
            </a:r>
          </a:p>
        </p:txBody>
      </p:sp>
      <p:sp>
        <p:nvSpPr>
          <p:cNvPr id="24" name="carte"/>
          <p:cNvSpPr/>
          <p:nvPr/>
        </p:nvSpPr>
        <p:spPr>
          <a:xfrm>
            <a:off x="685800" y="404622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bo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" y="4192524"/>
            <a:ext cx="274320" cy="274320"/>
          </a:xfrm>
          <a:prstGeom prst="rect">
            <a:avLst/>
          </a:prstGeom>
        </p:spPr>
      </p:pic>
      <p:sp>
        <p:nvSpPr>
          <p:cNvPr id="26" name="carte_t"/>
          <p:cNvSpPr txBox="1"/>
          <p:nvPr/>
        </p:nvSpPr>
        <p:spPr>
          <a:xfrm>
            <a:off x="832104" y="452170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Rate-limiting</a:t>
            </a:r>
          </a:p>
        </p:txBody>
      </p:sp>
      <p:sp>
        <p:nvSpPr>
          <p:cNvPr id="27" name="carte_d"/>
          <p:cNvSpPr txBox="1"/>
          <p:nvPr/>
        </p:nvSpPr>
        <p:spPr>
          <a:xfrm>
            <a:off x="832104" y="481431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429 : login 5/min, chat 20/min.</a:t>
            </a:r>
          </a:p>
        </p:txBody>
      </p:sp>
      <p:sp>
        <p:nvSpPr>
          <p:cNvPr id="28" name="carte"/>
          <p:cNvSpPr/>
          <p:nvPr/>
        </p:nvSpPr>
        <p:spPr>
          <a:xfrm>
            <a:off x="4368698" y="404622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ecor"/>
          <p:cNvSpPr/>
          <p:nvPr/>
        </p:nvSpPr>
        <p:spPr>
          <a:xfrm>
            <a:off x="4478426" y="4046220"/>
            <a:ext cx="3234842" cy="27432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ap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5002" y="4192524"/>
            <a:ext cx="274320" cy="274320"/>
          </a:xfrm>
          <a:prstGeom prst="rect">
            <a:avLst/>
          </a:prstGeom>
        </p:spPr>
      </p:pic>
      <p:sp>
        <p:nvSpPr>
          <p:cNvPr id="31" name="carte_t"/>
          <p:cNvSpPr txBox="1"/>
          <p:nvPr/>
        </p:nvSpPr>
        <p:spPr>
          <a:xfrm>
            <a:off x="4515002" y="452170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FallbackPolicy</a:t>
            </a:r>
          </a:p>
        </p:txBody>
      </p:sp>
      <p:sp>
        <p:nvSpPr>
          <p:cNvPr id="32" name="carte_d"/>
          <p:cNvSpPr txBox="1"/>
          <p:nvPr/>
        </p:nvSpPr>
        <p:spPr>
          <a:xfrm>
            <a:off x="4515002" y="481431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Toute route non décorée exige un JWT.</a:t>
            </a:r>
          </a:p>
        </p:txBody>
      </p:sp>
      <p:sp>
        <p:nvSpPr>
          <p:cNvPr id="33" name="carte"/>
          <p:cNvSpPr/>
          <p:nvPr/>
        </p:nvSpPr>
        <p:spPr>
          <a:xfrm>
            <a:off x="8051596" y="404622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cha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7900" y="4192524"/>
            <a:ext cx="274320" cy="274320"/>
          </a:xfrm>
          <a:prstGeom prst="rect">
            <a:avLst/>
          </a:prstGeom>
        </p:spPr>
      </p:pic>
      <p:sp>
        <p:nvSpPr>
          <p:cNvPr id="35" name="carte_t"/>
          <p:cNvSpPr txBox="1"/>
          <p:nvPr/>
        </p:nvSpPr>
        <p:spPr>
          <a:xfrm>
            <a:off x="8197900" y="452170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Déni visible</a:t>
            </a:r>
          </a:p>
        </p:txBody>
      </p:sp>
      <p:sp>
        <p:nvSpPr>
          <p:cNvPr id="36" name="carte_d"/>
          <p:cNvSpPr txBox="1"/>
          <p:nvPr/>
        </p:nvSpPr>
        <p:spPr>
          <a:xfrm>
            <a:off x="8197900" y="481431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Événement SSE denied → bulle orange.</a:t>
            </a:r>
          </a:p>
        </p:txBody>
      </p:sp>
      <p:sp>
        <p:nvSpPr>
          <p:cNvPr id="37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06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r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r"/>
          <p:cNvSpPr txBox="1"/>
          <p:nvPr/>
        </p:nvSpPr>
        <p:spPr>
          <a:xfrm>
            <a:off x="7985455" y="128016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0" b="0" w="800">
                <a:solidFill>
                  <a:srgbClr val="111B33"/>
                </a:solidFill>
                <a:latin typeface="Inter"/>
              </a:rPr>
              <a:t>02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1523847" y="25146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spc="300" w="700">
                <a:solidFill>
                  <a:srgbClr val="E59B5F"/>
                </a:solidFill>
                <a:latin typeface="Inter"/>
              </a:rPr>
              <a:t>PARTIE 02</a:t>
            </a:r>
          </a:p>
        </p:txBody>
      </p:sp>
      <p:sp>
        <p:nvSpPr>
          <p:cNvPr id="10" name="titre"/>
          <p:cNvSpPr txBox="1"/>
          <p:nvPr/>
        </p:nvSpPr>
        <p:spPr>
          <a:xfrm>
            <a:off x="1523847" y="288036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000" b="0" w="800">
                <a:solidFill>
                  <a:srgbClr val="E6EDF7"/>
                </a:solidFill>
                <a:latin typeface="Inter"/>
              </a:rPr>
              <a:t>Le Bouclier</a:t>
            </a:r>
          </a:p>
        </p:txBody>
      </p:sp>
      <p:sp>
        <p:nvSpPr>
          <p:cNvPr id="11" name="decor"/>
          <p:cNvSpPr/>
          <p:nvPr/>
        </p:nvSpPr>
        <p:spPr>
          <a:xfrm>
            <a:off x="5181447" y="4069080"/>
            <a:ext cx="1828800" cy="27432"/>
          </a:xfrm>
          <a:prstGeom prst="rect">
            <a:avLst/>
          </a:prstGeom>
          <a:solidFill>
            <a:srgbClr val="B5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rps"/>
          <p:cNvSpPr txBox="1"/>
          <p:nvPr/>
        </p:nvSpPr>
        <p:spPr>
          <a:xfrm>
            <a:off x="1523847" y="42062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93A0BF"/>
                </a:solidFill>
                <a:latin typeface="Inter"/>
              </a:rPr>
              <a:t>Une architecture Zero-Trust, hexagonale et agentique</a:t>
            </a:r>
          </a:p>
        </p:txBody>
      </p:sp>
      <p:sp>
        <p:nvSpPr>
          <p:cNvPr id="13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07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eadcrumb"/>
          <p:cNvSpPr txBox="1"/>
          <p:nvPr/>
        </p:nvSpPr>
        <p:spPr>
          <a:xfrm>
            <a:off x="685800" y="4572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spc="250" w="600">
                <a:solidFill>
                  <a:srgbClr val="8FC1F0"/>
                </a:solidFill>
                <a:latin typeface="Inter"/>
              </a:rPr>
              <a:t>02 · LE BOUCLIER</a:t>
            </a:r>
          </a:p>
        </p:txBody>
      </p:sp>
      <p:sp>
        <p:nvSpPr>
          <p:cNvPr id="8" name="titre"/>
          <p:cNvSpPr txBox="1"/>
          <p:nvPr/>
        </p:nvSpPr>
        <p:spPr>
          <a:xfrm>
            <a:off x="685800" y="74980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w="800">
                <a:solidFill>
                  <a:srgbClr val="E6EDF7"/>
                </a:solidFill>
                <a:latin typeface="Inter"/>
              </a:rPr>
              <a:t>Architecture hexagonale : domaine pur, découplé, testable</a:t>
            </a:r>
          </a:p>
        </p:txBody>
      </p:sp>
      <p:pic>
        <p:nvPicPr>
          <p:cNvPr id="9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10" name="corps"/>
          <p:cNvSpPr txBox="1"/>
          <p:nvPr/>
        </p:nvSpPr>
        <p:spPr>
          <a:xfrm>
            <a:off x="685800" y="1920240"/>
            <a:ext cx="32918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 w="400">
                <a:solidFill>
                  <a:srgbClr val="93A0BF"/>
                </a:solidFill>
                <a:latin typeface="Inter"/>
              </a:rPr>
              <a:t>Le domaine ne dépend de rien. Les dépendances pointent toujours vers l'intérieur. Le frontend ne parle qu'à son BFF.</a:t>
            </a:r>
          </a:p>
        </p:txBody>
      </p:sp>
      <p:sp>
        <p:nvSpPr>
          <p:cNvPr id="11" name="ring_0"/>
          <p:cNvSpPr/>
          <p:nvPr/>
        </p:nvSpPr>
        <p:spPr>
          <a:xfrm>
            <a:off x="4343400" y="1965960"/>
            <a:ext cx="7132320" cy="749808"/>
          </a:xfrm>
          <a:prstGeom prst="roundRect">
            <a:avLst>
              <a:gd name="adj" fmla="val 10000"/>
            </a:avLst>
          </a:prstGeom>
          <a:solidFill>
            <a:srgbClr val="2C4C90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rps"/>
          <p:cNvSpPr txBox="1"/>
          <p:nvPr/>
        </p:nvSpPr>
        <p:spPr>
          <a:xfrm>
            <a:off x="4434840" y="2075688"/>
            <a:ext cx="12664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6EDF7"/>
                </a:solidFill>
                <a:latin typeface="Inter"/>
              </a:rPr>
              <a:t>Agirh.Api</a:t>
            </a:r>
          </a:p>
        </p:txBody>
      </p:sp>
      <p:sp>
        <p:nvSpPr>
          <p:cNvPr id="13" name="corps"/>
          <p:cNvSpPr txBox="1"/>
          <p:nvPr/>
        </p:nvSpPr>
        <p:spPr>
          <a:xfrm>
            <a:off x="4434840" y="2350008"/>
            <a:ext cx="25283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E6EDF7"/>
                </a:solidFill>
                <a:latin typeface="Inter"/>
              </a:rPr>
              <a:t>composition root · DI</a:t>
            </a:r>
          </a:p>
        </p:txBody>
      </p:sp>
      <p:sp>
        <p:nvSpPr>
          <p:cNvPr id="14" name="ring_1"/>
          <p:cNvSpPr/>
          <p:nvPr/>
        </p:nvSpPr>
        <p:spPr>
          <a:xfrm>
            <a:off x="4985308" y="2843784"/>
            <a:ext cx="5848502" cy="749808"/>
          </a:xfrm>
          <a:prstGeom prst="roundRect">
            <a:avLst>
              <a:gd name="adj" fmla="val 10000"/>
            </a:avLst>
          </a:prstGeom>
          <a:solidFill>
            <a:srgbClr val="123680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rps"/>
          <p:cNvSpPr txBox="1"/>
          <p:nvPr/>
        </p:nvSpPr>
        <p:spPr>
          <a:xfrm>
            <a:off x="5076748" y="2953512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6EDF7"/>
                </a:solidFill>
                <a:latin typeface="Inter"/>
              </a:rPr>
              <a:t>Infrastructure</a:t>
            </a:r>
          </a:p>
        </p:txBody>
      </p:sp>
      <p:sp>
        <p:nvSpPr>
          <p:cNvPr id="16" name="corps"/>
          <p:cNvSpPr txBox="1"/>
          <p:nvPr/>
        </p:nvSpPr>
        <p:spPr>
          <a:xfrm>
            <a:off x="5076748" y="3227832"/>
            <a:ext cx="32644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E6EDF7"/>
                </a:solidFill>
                <a:latin typeface="Inter"/>
              </a:rPr>
              <a:t>adaptateurs · EF · agents IA</a:t>
            </a:r>
          </a:p>
        </p:txBody>
      </p:sp>
      <p:sp>
        <p:nvSpPr>
          <p:cNvPr id="17" name="ring_2"/>
          <p:cNvSpPr/>
          <p:nvPr/>
        </p:nvSpPr>
        <p:spPr>
          <a:xfrm>
            <a:off x="5627217" y="3721608"/>
            <a:ext cx="4564684" cy="749808"/>
          </a:xfrm>
          <a:prstGeom prst="roundRect">
            <a:avLst>
              <a:gd name="adj" fmla="val 10000"/>
            </a:avLst>
          </a:prstGeom>
          <a:solidFill>
            <a:srgbClr val="16213F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rps"/>
          <p:cNvSpPr txBox="1"/>
          <p:nvPr/>
        </p:nvSpPr>
        <p:spPr>
          <a:xfrm>
            <a:off x="5718657" y="3831336"/>
            <a:ext cx="7406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6EDF7"/>
                </a:solidFill>
                <a:latin typeface="Inter"/>
              </a:rPr>
              <a:t>Core</a:t>
            </a:r>
          </a:p>
        </p:txBody>
      </p:sp>
      <p:sp>
        <p:nvSpPr>
          <p:cNvPr id="19" name="corps"/>
          <p:cNvSpPr txBox="1"/>
          <p:nvPr/>
        </p:nvSpPr>
        <p:spPr>
          <a:xfrm>
            <a:off x="5718657" y="4105656"/>
            <a:ext cx="28437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E6EDF7"/>
                </a:solidFill>
                <a:latin typeface="Inter"/>
              </a:rPr>
              <a:t>ports · use cases · RBAC</a:t>
            </a:r>
          </a:p>
        </p:txBody>
      </p:sp>
      <p:sp>
        <p:nvSpPr>
          <p:cNvPr id="20" name="ring_3"/>
          <p:cNvSpPr/>
          <p:nvPr/>
        </p:nvSpPr>
        <p:spPr>
          <a:xfrm>
            <a:off x="6269126" y="4599431"/>
            <a:ext cx="3280867" cy="749808"/>
          </a:xfrm>
          <a:prstGeom prst="roundRect">
            <a:avLst>
              <a:gd name="adj" fmla="val 10000"/>
            </a:avLst>
          </a:prstGeom>
          <a:solidFill>
            <a:srgbClr val="659ED4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rps"/>
          <p:cNvSpPr txBox="1"/>
          <p:nvPr/>
        </p:nvSpPr>
        <p:spPr>
          <a:xfrm>
            <a:off x="6360566" y="4709159"/>
            <a:ext cx="9509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6EDF7"/>
                </a:solidFill>
                <a:latin typeface="Inter"/>
              </a:rPr>
              <a:t>Domain</a:t>
            </a:r>
          </a:p>
        </p:txBody>
      </p:sp>
      <p:sp>
        <p:nvSpPr>
          <p:cNvPr id="22" name="corps"/>
          <p:cNvSpPr txBox="1"/>
          <p:nvPr/>
        </p:nvSpPr>
        <p:spPr>
          <a:xfrm>
            <a:off x="6360566" y="4983479"/>
            <a:ext cx="22128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E6EDF7"/>
                </a:solidFill>
                <a:latin typeface="Inter"/>
              </a:rPr>
              <a:t>pur · 0 dépendance</a:t>
            </a:r>
          </a:p>
        </p:txBody>
      </p:sp>
      <p:sp>
        <p:nvSpPr>
          <p:cNvPr id="23" name="port"/>
          <p:cNvSpPr/>
          <p:nvPr/>
        </p:nvSpPr>
        <p:spPr>
          <a:xfrm>
            <a:off x="9738360" y="2916936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111B33"/>
          </a:solidFill>
          <a:ln w="15875">
            <a:solidFill>
              <a:srgbClr val="659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rps"/>
          <p:cNvSpPr txBox="1"/>
          <p:nvPr/>
        </p:nvSpPr>
        <p:spPr>
          <a:xfrm>
            <a:off x="9829800" y="3026664"/>
            <a:ext cx="11612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600">
                <a:solidFill>
                  <a:srgbClr val="E6EDF7"/>
                </a:solidFill>
                <a:latin typeface="Inter"/>
              </a:rPr>
              <a:t>Repos EF</a:t>
            </a:r>
          </a:p>
        </p:txBody>
      </p:sp>
      <p:sp>
        <p:nvSpPr>
          <p:cNvPr id="25" name="port"/>
          <p:cNvSpPr/>
          <p:nvPr/>
        </p:nvSpPr>
        <p:spPr>
          <a:xfrm>
            <a:off x="8183880" y="2916936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111B33"/>
          </a:solidFill>
          <a:ln w="15875">
            <a:solidFill>
              <a:srgbClr val="659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rps"/>
          <p:cNvSpPr txBox="1"/>
          <p:nvPr/>
        </p:nvSpPr>
        <p:spPr>
          <a:xfrm>
            <a:off x="8275320" y="3026664"/>
            <a:ext cx="12664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600">
                <a:solidFill>
                  <a:srgbClr val="E6EDF7"/>
                </a:solidFill>
                <a:latin typeface="Inter"/>
              </a:rPr>
              <a:t>Agents IA</a:t>
            </a:r>
          </a:p>
        </p:txBody>
      </p:sp>
      <p:sp>
        <p:nvSpPr>
          <p:cNvPr id="27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08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eadcrumb"/>
          <p:cNvSpPr txBox="1"/>
          <p:nvPr/>
        </p:nvSpPr>
        <p:spPr>
          <a:xfrm>
            <a:off x="685800" y="4572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spc="250" w="600">
                <a:solidFill>
                  <a:srgbClr val="8FC1F0"/>
                </a:solidFill>
                <a:latin typeface="Inter"/>
              </a:rPr>
              <a:t>02 · LE BOUCLIER</a:t>
            </a:r>
          </a:p>
        </p:txBody>
      </p:sp>
      <p:sp>
        <p:nvSpPr>
          <p:cNvPr id="8" name="titre"/>
          <p:cNvSpPr txBox="1"/>
          <p:nvPr/>
        </p:nvSpPr>
        <p:spPr>
          <a:xfrm>
            <a:off x="685800" y="74980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w="800">
                <a:solidFill>
                  <a:srgbClr val="E6EDF7"/>
                </a:solidFill>
                <a:latin typeface="Inter"/>
              </a:rPr>
              <a:t>Pipeline Actor-Critic : le RBAC (C#) ne dépend jamais du LLM</a:t>
            </a:r>
          </a:p>
        </p:txBody>
      </p:sp>
      <p:pic>
        <p:nvPicPr>
          <p:cNvPr id="9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10" name="corps"/>
          <p:cNvSpPr txBox="1"/>
          <p:nvPr/>
        </p:nvSpPr>
        <p:spPr>
          <a:xfrm>
            <a:off x="685800" y="1920240"/>
            <a:ext cx="32918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 w="400">
                <a:solidFill>
                  <a:srgbClr val="93A0BF"/>
                </a:solidFill>
                <a:latin typeface="Inter"/>
              </a:rPr>
              <a:t>Quatre agents orchestrés. Le Dispatcher tranche les droits en C# pur — zéro modèle. Le Checker valide avant envoi.</a:t>
            </a:r>
          </a:p>
        </p:txBody>
      </p:sp>
      <p:sp>
        <p:nvSpPr>
          <p:cNvPr id="11" name="pipe_0"/>
          <p:cNvSpPr/>
          <p:nvPr/>
        </p:nvSpPr>
        <p:spPr>
          <a:xfrm>
            <a:off x="4343400" y="2103120"/>
            <a:ext cx="1170432" cy="1051560"/>
          </a:xfrm>
          <a:prstGeom prst="roundRect">
            <a:avLst>
              <a:gd name="adj" fmla="val 10000"/>
            </a:avLst>
          </a:prstGeom>
          <a:solidFill>
            <a:srgbClr val="123680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rps"/>
          <p:cNvSpPr txBox="1"/>
          <p:nvPr/>
        </p:nvSpPr>
        <p:spPr>
          <a:xfrm>
            <a:off x="4434840" y="2212848"/>
            <a:ext cx="987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6EDF7"/>
                </a:solidFill>
                <a:latin typeface="Inter"/>
              </a:rPr>
              <a:t>Profiler</a:t>
            </a:r>
          </a:p>
        </p:txBody>
      </p:sp>
      <p:sp>
        <p:nvSpPr>
          <p:cNvPr id="13" name="corps"/>
          <p:cNvSpPr txBox="1"/>
          <p:nvPr/>
        </p:nvSpPr>
        <p:spPr>
          <a:xfrm>
            <a:off x="4434840" y="2487168"/>
            <a:ext cx="987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E6EDF7"/>
                </a:solidFill>
                <a:latin typeface="Inter"/>
              </a:rPr>
              <a:t>intention JSON</a:t>
            </a:r>
          </a:p>
        </p:txBody>
      </p:sp>
      <p:sp>
        <p:nvSpPr>
          <p:cNvPr id="14" name="decor"/>
          <p:cNvSpPr/>
          <p:nvPr/>
        </p:nvSpPr>
        <p:spPr>
          <a:xfrm>
            <a:off x="5513832" y="2514599"/>
            <a:ext cx="201167" cy="219456"/>
          </a:xfrm>
          <a:prstGeom prst="rightArrow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ipe_1"/>
          <p:cNvSpPr/>
          <p:nvPr/>
        </p:nvSpPr>
        <p:spPr>
          <a:xfrm>
            <a:off x="5715000" y="2103120"/>
            <a:ext cx="1170432" cy="1051560"/>
          </a:xfrm>
          <a:prstGeom prst="roundRect">
            <a:avLst>
              <a:gd name="adj" fmla="val 10000"/>
            </a:avLst>
          </a:prstGeom>
          <a:solidFill>
            <a:srgbClr val="B55927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rps"/>
          <p:cNvSpPr txBox="1"/>
          <p:nvPr/>
        </p:nvSpPr>
        <p:spPr>
          <a:xfrm>
            <a:off x="5806440" y="2212848"/>
            <a:ext cx="987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6EDF7"/>
                </a:solidFill>
                <a:latin typeface="Inter"/>
              </a:rPr>
              <a:t>Dispatcher</a:t>
            </a:r>
          </a:p>
        </p:txBody>
      </p:sp>
      <p:sp>
        <p:nvSpPr>
          <p:cNvPr id="17" name="corps"/>
          <p:cNvSpPr txBox="1"/>
          <p:nvPr/>
        </p:nvSpPr>
        <p:spPr>
          <a:xfrm>
            <a:off x="5806440" y="2487168"/>
            <a:ext cx="987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E6EDF7"/>
                </a:solidFill>
                <a:latin typeface="Inter"/>
              </a:rPr>
              <a:t>RBAC C# · 0 LLM</a:t>
            </a:r>
          </a:p>
        </p:txBody>
      </p:sp>
      <p:sp>
        <p:nvSpPr>
          <p:cNvPr id="18" name="decor"/>
          <p:cNvSpPr/>
          <p:nvPr/>
        </p:nvSpPr>
        <p:spPr>
          <a:xfrm>
            <a:off x="6885432" y="2514599"/>
            <a:ext cx="201167" cy="219456"/>
          </a:xfrm>
          <a:prstGeom prst="rightArrow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ipe_2"/>
          <p:cNvSpPr/>
          <p:nvPr/>
        </p:nvSpPr>
        <p:spPr>
          <a:xfrm>
            <a:off x="7086600" y="2103120"/>
            <a:ext cx="1170432" cy="1051560"/>
          </a:xfrm>
          <a:prstGeom prst="roundRect">
            <a:avLst>
              <a:gd name="adj" fmla="val 10000"/>
            </a:avLst>
          </a:prstGeom>
          <a:solidFill>
            <a:srgbClr val="16213F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rps"/>
          <p:cNvSpPr txBox="1"/>
          <p:nvPr/>
        </p:nvSpPr>
        <p:spPr>
          <a:xfrm>
            <a:off x="7178040" y="2212848"/>
            <a:ext cx="9509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6EDF7"/>
                </a:solidFill>
                <a:latin typeface="Inter"/>
              </a:rPr>
              <a:t>Worker</a:t>
            </a:r>
          </a:p>
        </p:txBody>
      </p:sp>
      <p:sp>
        <p:nvSpPr>
          <p:cNvPr id="21" name="corps"/>
          <p:cNvSpPr txBox="1"/>
          <p:nvPr/>
        </p:nvSpPr>
        <p:spPr>
          <a:xfrm>
            <a:off x="7178040" y="2487168"/>
            <a:ext cx="987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E6EDF7"/>
                </a:solidFill>
                <a:latin typeface="Inter"/>
              </a:rPr>
              <a:t>outils MAF</a:t>
            </a:r>
          </a:p>
        </p:txBody>
      </p:sp>
      <p:sp>
        <p:nvSpPr>
          <p:cNvPr id="22" name="decor"/>
          <p:cNvSpPr/>
          <p:nvPr/>
        </p:nvSpPr>
        <p:spPr>
          <a:xfrm>
            <a:off x="8257031" y="2514599"/>
            <a:ext cx="201168" cy="219456"/>
          </a:xfrm>
          <a:prstGeom prst="rightArrow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ipe_3"/>
          <p:cNvSpPr/>
          <p:nvPr/>
        </p:nvSpPr>
        <p:spPr>
          <a:xfrm>
            <a:off x="8458200" y="2103120"/>
            <a:ext cx="1170432" cy="1051560"/>
          </a:xfrm>
          <a:prstGeom prst="roundRect">
            <a:avLst>
              <a:gd name="adj" fmla="val 10000"/>
            </a:avLst>
          </a:prstGeom>
          <a:solidFill>
            <a:srgbClr val="123680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rps"/>
          <p:cNvSpPr txBox="1"/>
          <p:nvPr/>
        </p:nvSpPr>
        <p:spPr>
          <a:xfrm>
            <a:off x="8549640" y="2212848"/>
            <a:ext cx="987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6EDF7"/>
                </a:solidFill>
                <a:latin typeface="Inter"/>
              </a:rPr>
              <a:t>Synthesizer</a:t>
            </a:r>
          </a:p>
        </p:txBody>
      </p:sp>
      <p:sp>
        <p:nvSpPr>
          <p:cNvPr id="25" name="corps"/>
          <p:cNvSpPr txBox="1"/>
          <p:nvPr/>
        </p:nvSpPr>
        <p:spPr>
          <a:xfrm>
            <a:off x="8549640" y="2487168"/>
            <a:ext cx="987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E6EDF7"/>
                </a:solidFill>
                <a:latin typeface="Inter"/>
              </a:rPr>
              <a:t>reformulation</a:t>
            </a:r>
          </a:p>
        </p:txBody>
      </p:sp>
      <p:sp>
        <p:nvSpPr>
          <p:cNvPr id="26" name="decor"/>
          <p:cNvSpPr/>
          <p:nvPr/>
        </p:nvSpPr>
        <p:spPr>
          <a:xfrm>
            <a:off x="9628632" y="2514599"/>
            <a:ext cx="201168" cy="219456"/>
          </a:xfrm>
          <a:prstGeom prst="rightArrow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ipe_4"/>
          <p:cNvSpPr/>
          <p:nvPr/>
        </p:nvSpPr>
        <p:spPr>
          <a:xfrm>
            <a:off x="9829800" y="2103120"/>
            <a:ext cx="1170432" cy="1051560"/>
          </a:xfrm>
          <a:prstGeom prst="roundRect">
            <a:avLst>
              <a:gd name="adj" fmla="val 10000"/>
            </a:avLst>
          </a:prstGeom>
          <a:solidFill>
            <a:srgbClr val="B55927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rps"/>
          <p:cNvSpPr txBox="1"/>
          <p:nvPr/>
        </p:nvSpPr>
        <p:spPr>
          <a:xfrm>
            <a:off x="9921240" y="2212848"/>
            <a:ext cx="987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6EDF7"/>
                </a:solidFill>
                <a:latin typeface="Inter"/>
              </a:rPr>
              <a:t>Checker</a:t>
            </a:r>
          </a:p>
        </p:txBody>
      </p:sp>
      <p:sp>
        <p:nvSpPr>
          <p:cNvPr id="29" name="corps"/>
          <p:cNvSpPr txBox="1"/>
          <p:nvPr/>
        </p:nvSpPr>
        <p:spPr>
          <a:xfrm>
            <a:off x="9921240" y="2487168"/>
            <a:ext cx="987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E6EDF7"/>
                </a:solidFill>
                <a:latin typeface="Inter"/>
              </a:rPr>
              <a:t>fail-closed</a:t>
            </a:r>
          </a:p>
        </p:txBody>
      </p:sp>
      <p:sp>
        <p:nvSpPr>
          <p:cNvPr id="30" name="sse"/>
          <p:cNvSpPr/>
          <p:nvPr/>
        </p:nvSpPr>
        <p:spPr>
          <a:xfrm>
            <a:off x="4343400" y="3520439"/>
            <a:ext cx="7132320" cy="548640"/>
          </a:xfrm>
          <a:prstGeom prst="roundRect">
            <a:avLst>
              <a:gd name="adj" fmla="val 10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rps"/>
          <p:cNvSpPr txBox="1"/>
          <p:nvPr/>
        </p:nvSpPr>
        <p:spPr>
          <a:xfrm>
            <a:off x="4434840" y="3630168"/>
            <a:ext cx="31592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600">
                <a:solidFill>
                  <a:srgbClr val="E6EDF7"/>
                </a:solidFill>
                <a:latin typeface="Inter"/>
              </a:rPr>
              <a:t>SSE → token · done · denied</a:t>
            </a:r>
          </a:p>
        </p:txBody>
      </p:sp>
      <p:sp>
        <p:nvSpPr>
          <p:cNvPr id="32" name="decor"/>
          <p:cNvSpPr/>
          <p:nvPr/>
        </p:nvSpPr>
        <p:spPr>
          <a:xfrm>
            <a:off x="4690872" y="3154679"/>
            <a:ext cx="219456" cy="320040"/>
          </a:xfrm>
          <a:prstGeom prst="upArrow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09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eadcrumb"/>
          <p:cNvSpPr txBox="1"/>
          <p:nvPr/>
        </p:nvSpPr>
        <p:spPr>
          <a:xfrm>
            <a:off x="685800" y="4572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spc="250" w="600">
                <a:solidFill>
                  <a:srgbClr val="8FC1F0"/>
                </a:solidFill>
                <a:latin typeface="Inter"/>
              </a:rPr>
              <a:t>02 · LE BOUCLIER</a:t>
            </a:r>
          </a:p>
        </p:txBody>
      </p:sp>
      <p:sp>
        <p:nvSpPr>
          <p:cNvPr id="8" name="titre"/>
          <p:cNvSpPr txBox="1"/>
          <p:nvPr/>
        </p:nvSpPr>
        <p:spPr>
          <a:xfrm>
            <a:off x="685800" y="74980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w="800">
                <a:solidFill>
                  <a:srgbClr val="E6EDF7"/>
                </a:solidFill>
                <a:latin typeface="Inter"/>
              </a:rPr>
              <a:t>Mitigation des failles TOCTOU par défaut fail-closed</a:t>
            </a:r>
          </a:p>
        </p:txBody>
      </p:sp>
      <p:pic>
        <p:nvPicPr>
          <p:cNvPr id="9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10" name="corps"/>
          <p:cNvSpPr txBox="1"/>
          <p:nvPr/>
        </p:nvSpPr>
        <p:spPr>
          <a:xfrm>
            <a:off x="685800" y="1920240"/>
            <a:ext cx="32918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 w="400">
                <a:solidFill>
                  <a:srgbClr val="93A0BF"/>
                </a:solidFill>
                <a:latin typeface="Inter"/>
              </a:rPr>
              <a:t>Deux demandes parallèles → un seul Pending autorisé. L'index filtré en base est la seconde ligne de défense.</a:t>
            </a:r>
          </a:p>
        </p:txBody>
      </p:sp>
      <p:sp>
        <p:nvSpPr>
          <p:cNvPr id="11" name="req1"/>
          <p:cNvSpPr/>
          <p:nvPr/>
        </p:nvSpPr>
        <p:spPr>
          <a:xfrm>
            <a:off x="4434840" y="2011680"/>
            <a:ext cx="3108960" cy="640080"/>
          </a:xfrm>
          <a:prstGeom prst="roundRect">
            <a:avLst>
              <a:gd name="adj" fmla="val 10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rps"/>
          <p:cNvSpPr txBox="1"/>
          <p:nvPr/>
        </p:nvSpPr>
        <p:spPr>
          <a:xfrm>
            <a:off x="4526279" y="2121408"/>
            <a:ext cx="23180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600">
                <a:solidFill>
                  <a:srgbClr val="E6EDF7"/>
                </a:solidFill>
                <a:latin typeface="Inter"/>
              </a:rPr>
              <a:t>Requête 1 — 2 000 €</a:t>
            </a:r>
          </a:p>
        </p:txBody>
      </p:sp>
      <p:sp>
        <p:nvSpPr>
          <p:cNvPr id="13" name="req2"/>
          <p:cNvSpPr/>
          <p:nvPr/>
        </p:nvSpPr>
        <p:spPr>
          <a:xfrm>
            <a:off x="8183880" y="2011680"/>
            <a:ext cx="3108960" cy="640080"/>
          </a:xfrm>
          <a:prstGeom prst="roundRect">
            <a:avLst>
              <a:gd name="adj" fmla="val 10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rps"/>
          <p:cNvSpPr txBox="1"/>
          <p:nvPr/>
        </p:nvSpPr>
        <p:spPr>
          <a:xfrm>
            <a:off x="8275320" y="2121408"/>
            <a:ext cx="23180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600">
                <a:solidFill>
                  <a:srgbClr val="E6EDF7"/>
                </a:solidFill>
                <a:latin typeface="Inter"/>
              </a:rPr>
              <a:t>Requête 2 — 2 000 €</a:t>
            </a:r>
          </a:p>
        </p:txBody>
      </p:sp>
      <p:sp>
        <p:nvSpPr>
          <p:cNvPr id="15" name="idx"/>
          <p:cNvSpPr/>
          <p:nvPr/>
        </p:nvSpPr>
        <p:spPr>
          <a:xfrm>
            <a:off x="6126480" y="3063240"/>
            <a:ext cx="3566160" cy="822960"/>
          </a:xfrm>
          <a:prstGeom prst="roundRect">
            <a:avLst>
              <a:gd name="adj" fmla="val 10000"/>
            </a:avLst>
          </a:prstGeom>
          <a:solidFill>
            <a:srgbClr val="111B33"/>
          </a:solidFill>
          <a:ln w="15875">
            <a:solidFill>
              <a:srgbClr val="B559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rps"/>
          <p:cNvSpPr txBox="1"/>
          <p:nvPr/>
        </p:nvSpPr>
        <p:spPr>
          <a:xfrm>
            <a:off x="6217920" y="3172968"/>
            <a:ext cx="23180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59B5F"/>
                </a:solidFill>
                <a:latin typeface="Inter"/>
              </a:rPr>
              <a:t>Index unique filtré</a:t>
            </a:r>
          </a:p>
        </p:txBody>
      </p:sp>
      <p:sp>
        <p:nvSpPr>
          <p:cNvPr id="17" name="corps"/>
          <p:cNvSpPr txBox="1"/>
          <p:nvPr/>
        </p:nvSpPr>
        <p:spPr>
          <a:xfrm>
            <a:off x="6217920" y="3447288"/>
            <a:ext cx="3054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E6EDF7"/>
                </a:solidFill>
                <a:latin typeface="Inter"/>
              </a:rPr>
              <a:t>(EmployeeId) WHERE Pending</a:t>
            </a:r>
          </a:p>
        </p:txBody>
      </p:sp>
      <p:sp>
        <p:nvSpPr>
          <p:cNvPr id="18" name="db"/>
          <p:cNvSpPr/>
          <p:nvPr/>
        </p:nvSpPr>
        <p:spPr>
          <a:xfrm>
            <a:off x="4434840" y="4389120"/>
            <a:ext cx="3108960" cy="731520"/>
          </a:xfrm>
          <a:prstGeom prst="roundRect">
            <a:avLst>
              <a:gd name="adj" fmla="val 10000"/>
            </a:avLst>
          </a:prstGeom>
          <a:solidFill>
            <a:srgbClr val="16213F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rps"/>
          <p:cNvSpPr txBox="1"/>
          <p:nvPr/>
        </p:nvSpPr>
        <p:spPr>
          <a:xfrm>
            <a:off x="4526279" y="449884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600">
                <a:solidFill>
                  <a:srgbClr val="E6EDF7"/>
                </a:solidFill>
                <a:latin typeface="Inter"/>
              </a:rPr>
              <a:t>SalaryAdvanceRequest</a:t>
            </a:r>
          </a:p>
        </p:txBody>
      </p:sp>
      <p:sp>
        <p:nvSpPr>
          <p:cNvPr id="20" name="rej"/>
          <p:cNvSpPr/>
          <p:nvPr/>
        </p:nvSpPr>
        <p:spPr>
          <a:xfrm>
            <a:off x="8183880" y="4389120"/>
            <a:ext cx="3108960" cy="548640"/>
          </a:xfrm>
          <a:prstGeom prst="roundRect">
            <a:avLst>
              <a:gd name="adj" fmla="val 10000"/>
            </a:avLst>
          </a:prstGeom>
          <a:solidFill>
            <a:srgbClr val="111B33"/>
          </a:solidFill>
          <a:ln w="15875">
            <a:solidFill>
              <a:srgbClr val="B559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rps"/>
          <p:cNvSpPr txBox="1"/>
          <p:nvPr/>
        </p:nvSpPr>
        <p:spPr>
          <a:xfrm>
            <a:off x="8275320" y="4498848"/>
            <a:ext cx="20025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59B5F"/>
                </a:solidFill>
                <a:latin typeface="Inter"/>
              </a:rPr>
              <a:t>✗ REJET (TOCTOU)</a:t>
            </a:r>
          </a:p>
        </p:txBody>
      </p:sp>
      <p:sp>
        <p:nvSpPr>
          <p:cNvPr id="22" name="decor"/>
          <p:cNvSpPr/>
          <p:nvPr/>
        </p:nvSpPr>
        <p:spPr>
          <a:xfrm>
            <a:off x="6656832" y="2651760"/>
            <a:ext cx="219456" cy="411479"/>
          </a:xfrm>
          <a:prstGeom prst="downArrow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ecor"/>
          <p:cNvSpPr/>
          <p:nvPr/>
        </p:nvSpPr>
        <p:spPr>
          <a:xfrm>
            <a:off x="6656832" y="3886200"/>
            <a:ext cx="219456" cy="502920"/>
          </a:xfrm>
          <a:prstGeom prst="downArrow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ecor"/>
          <p:cNvSpPr/>
          <p:nvPr/>
        </p:nvSpPr>
        <p:spPr>
          <a:xfrm>
            <a:off x="9083649" y="2651760"/>
            <a:ext cx="219456" cy="1737360"/>
          </a:xfrm>
          <a:prstGeom prst="downArrow">
            <a:avLst/>
          </a:prstGeom>
          <a:solidFill>
            <a:srgbClr val="B5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r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r"/>
          <p:cNvSpPr txBox="1"/>
          <p:nvPr/>
        </p:nvSpPr>
        <p:spPr>
          <a:xfrm>
            <a:off x="7985455" y="128016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0" b="0" w="800">
                <a:solidFill>
                  <a:srgbClr val="111B33"/>
                </a:solidFill>
                <a:latin typeface="Inter"/>
              </a:rPr>
              <a:t>03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1523847" y="25146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spc="300" w="700">
                <a:solidFill>
                  <a:srgbClr val="E59B5F"/>
                </a:solidFill>
                <a:latin typeface="Inter"/>
              </a:rPr>
              <a:t>PARTIE 03</a:t>
            </a:r>
          </a:p>
        </p:txBody>
      </p:sp>
      <p:sp>
        <p:nvSpPr>
          <p:cNvPr id="10" name="titre"/>
          <p:cNvSpPr txBox="1"/>
          <p:nvPr/>
        </p:nvSpPr>
        <p:spPr>
          <a:xfrm>
            <a:off x="1523847" y="288036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000" b="0" w="800">
                <a:solidFill>
                  <a:srgbClr val="E6EDF7"/>
                </a:solidFill>
                <a:latin typeface="Inter"/>
              </a:rPr>
              <a:t>La Machinerie</a:t>
            </a:r>
          </a:p>
        </p:txBody>
      </p:sp>
      <p:sp>
        <p:nvSpPr>
          <p:cNvPr id="11" name="decor"/>
          <p:cNvSpPr/>
          <p:nvPr/>
        </p:nvSpPr>
        <p:spPr>
          <a:xfrm>
            <a:off x="5181447" y="4069080"/>
            <a:ext cx="1828800" cy="27432"/>
          </a:xfrm>
          <a:prstGeom prst="rect">
            <a:avLst/>
          </a:prstGeom>
          <a:solidFill>
            <a:srgbClr val="B5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rps"/>
          <p:cNvSpPr txBox="1"/>
          <p:nvPr/>
        </p:nvSpPr>
        <p:spPr>
          <a:xfrm>
            <a:off x="1523847" y="42062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93A0BF"/>
                </a:solidFill>
                <a:latin typeface="Inter"/>
              </a:rPr>
              <a:t>Extraction sémantique et exécution déterministe</a:t>
            </a:r>
          </a:p>
        </p:txBody>
      </p:sp>
      <p:sp>
        <p:nvSpPr>
          <p:cNvPr id="13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eadcrumb"/>
          <p:cNvSpPr txBox="1"/>
          <p:nvPr/>
        </p:nvSpPr>
        <p:spPr>
          <a:xfrm>
            <a:off x="685800" y="4572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spc="250" w="600">
                <a:solidFill>
                  <a:srgbClr val="8FC1F0"/>
                </a:solidFill>
                <a:latin typeface="Inter"/>
              </a:rPr>
              <a:t>03 · LA MACHINERIE</a:t>
            </a:r>
          </a:p>
        </p:txBody>
      </p:sp>
      <p:sp>
        <p:nvSpPr>
          <p:cNvPr id="8" name="titre"/>
          <p:cNvSpPr txBox="1"/>
          <p:nvPr/>
        </p:nvSpPr>
        <p:spPr>
          <a:xfrm>
            <a:off x="685800" y="74980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w="800">
                <a:solidFill>
                  <a:srgbClr val="E6EDF7"/>
                </a:solidFill>
                <a:latin typeface="Inter"/>
              </a:rPr>
              <a:t>Le dispatcher C# tranche avant tout appel au LLM</a:t>
            </a:r>
          </a:p>
        </p:txBody>
      </p:sp>
      <p:pic>
        <p:nvPicPr>
          <p:cNvPr id="9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10" name="corps"/>
          <p:cNvSpPr txBox="1"/>
          <p:nvPr/>
        </p:nvSpPr>
        <p:spPr>
          <a:xfrm>
            <a:off x="685800" y="1920240"/>
            <a:ext cx="32918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 w="400">
                <a:solidFill>
                  <a:srgbClr val="93A0BF"/>
                </a:solidFill>
                <a:latin typeface="Inter"/>
              </a:rPr>
              <a:t>La sentinelle DENIED devient la bulle orange côté frontend. Un rejet métier reste une réponse polie.</a:t>
            </a:r>
          </a:p>
        </p:txBody>
      </p:sp>
      <p:sp>
        <p:nvSpPr>
          <p:cNvPr id="11" name="code"/>
          <p:cNvSpPr/>
          <p:nvPr/>
        </p:nvSpPr>
        <p:spPr>
          <a:xfrm>
            <a:off x="4343400" y="1828800"/>
            <a:ext cx="7132320" cy="3209544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de_header"/>
          <p:cNvSpPr/>
          <p:nvPr/>
        </p:nvSpPr>
        <p:spPr>
          <a:xfrm>
            <a:off x="4343400" y="1828800"/>
            <a:ext cx="7132320" cy="457200"/>
          </a:xfrm>
          <a:prstGeom prst="roundRect">
            <a:avLst>
              <a:gd name="adj" fmla="val 10000"/>
            </a:avLst>
          </a:prstGeom>
          <a:solidFill>
            <a:srgbClr val="21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cor"/>
          <p:cNvSpPr/>
          <p:nvPr/>
        </p:nvSpPr>
        <p:spPr>
          <a:xfrm>
            <a:off x="4663440" y="1984248"/>
            <a:ext cx="118872" cy="118872"/>
          </a:xfrm>
          <a:prstGeom prst="ellipse">
            <a:avLst/>
          </a:prstGeom>
          <a:solidFill>
            <a:srgbClr val="B55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ecor"/>
          <p:cNvSpPr/>
          <p:nvPr/>
        </p:nvSpPr>
        <p:spPr>
          <a:xfrm>
            <a:off x="4946904" y="1984248"/>
            <a:ext cx="118872" cy="118872"/>
          </a:xfrm>
          <a:prstGeom prst="ellipse">
            <a:avLst/>
          </a:prstGeom>
          <a:solidFill>
            <a:srgbClr val="659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ecor"/>
          <p:cNvSpPr/>
          <p:nvPr/>
        </p:nvSpPr>
        <p:spPr>
          <a:xfrm>
            <a:off x="5230368" y="1984248"/>
            <a:ext cx="118872" cy="118872"/>
          </a:xfrm>
          <a:prstGeom prst="ellipse">
            <a:avLst/>
          </a:prstGeom>
          <a:solidFill>
            <a:srgbClr val="5B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kicker"/>
          <p:cNvSpPr txBox="1"/>
          <p:nvPr/>
        </p:nvSpPr>
        <p:spPr>
          <a:xfrm>
            <a:off x="5715000" y="1938528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93A0BF"/>
                </a:solidFill>
                <a:latin typeface="JetBrains Mono"/>
              </a:rPr>
              <a:t>AgentOrchestratorService.cs</a:t>
            </a:r>
          </a:p>
        </p:txBody>
      </p:sp>
      <p:sp>
        <p:nvSpPr>
          <p:cNvPr id="17" name="code_body"/>
          <p:cNvSpPr/>
          <p:nvPr/>
        </p:nvSpPr>
        <p:spPr>
          <a:xfrm>
            <a:off x="4361688" y="2286000"/>
            <a:ext cx="7095744" cy="2706624"/>
          </a:xfrm>
          <a:prstGeom prst="roundRect">
            <a:avLst>
              <a:gd name="adj" fmla="val 3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28016"/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C792EA"/>
                </a:solidFill>
                <a:latin typeface="JetBrains Mono"/>
              </a:rPr>
              <a:t>var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intent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=</a:t>
            </a:r>
            <a:r>
              <a:rPr sz="1600" b="0">
                <a:solidFill>
                  <a:srgbClr val="C792EA"/>
                </a:solidFill>
                <a:latin typeface="JetBrains Mono"/>
              </a:rPr>
              <a:t>await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_profiler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.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ExtractAsync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(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message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)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;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5B6B8C"/>
                </a:solidFill>
                <a:latin typeface="JetBrains Mono"/>
              </a:rPr>
              <a:t>var preflight = _validator.Validate(intent);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5B6B8C"/>
                </a:solidFill>
                <a:latin typeface="JetBrains Mono"/>
              </a:rPr>
              <a:t>if (!preflight.IsValid) return Reply(preflight.Message);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C792EA"/>
                </a:solidFill>
                <a:latin typeface="JetBrains Mono"/>
              </a:rPr>
              <a:t>var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dispatch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=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_dispatcher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.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Dispatch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(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intent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,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role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,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userId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)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;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C792EA"/>
                </a:solidFill>
                <a:latin typeface="JetBrains Mono"/>
              </a:rPr>
              <a:t>if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(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dispatch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.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Rejected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)</a:t>
            </a:r>
            <a:r>
              <a:rPr sz="1600" b="0">
                <a:solidFill>
                  <a:srgbClr val="C792EA"/>
                </a:solidFill>
                <a:latin typeface="JetBrains Mono"/>
              </a:rPr>
              <a:t>return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Sentinel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(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DENIED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)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;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5B6B8C"/>
                </a:solidFill>
                <a:latin typeface="JetBrains Mono"/>
              </a:rPr>
              <a:t>var worker = await _worker.RunAsync(dispatch.Tool);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5B6B8C"/>
                </a:solidFill>
                <a:latin typeface="JetBrains Mono"/>
              </a:rPr>
              <a:t>var draft = await _synthesizer.ReformulateAsync(worker);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C792EA"/>
                </a:solidFill>
                <a:latin typeface="JetBrains Mono"/>
              </a:rPr>
              <a:t>return</a:t>
            </a:r>
            <a:r>
              <a:rPr sz="1600" b="0">
                <a:solidFill>
                  <a:srgbClr val="C792EA"/>
                </a:solidFill>
                <a:latin typeface="JetBrains Mono"/>
              </a:rPr>
              <a:t>await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_checker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.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ValidateAsync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(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draft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)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;</a:t>
            </a:r>
          </a:p>
        </p:txBody>
      </p:sp>
      <p:sp>
        <p:nvSpPr>
          <p:cNvPr id="18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eadcrumb"/>
          <p:cNvSpPr txBox="1"/>
          <p:nvPr/>
        </p:nvSpPr>
        <p:spPr>
          <a:xfrm>
            <a:off x="685800" y="4572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spc="250" w="600">
                <a:solidFill>
                  <a:srgbClr val="8FC1F0"/>
                </a:solidFill>
                <a:latin typeface="Inter"/>
              </a:rPr>
              <a:t>03 · LA MACHINERIE</a:t>
            </a:r>
          </a:p>
        </p:txBody>
      </p:sp>
      <p:sp>
        <p:nvSpPr>
          <p:cNvPr id="8" name="titre"/>
          <p:cNvSpPr txBox="1"/>
          <p:nvPr/>
        </p:nvSpPr>
        <p:spPr>
          <a:xfrm>
            <a:off x="685800" y="74980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w="800">
                <a:solidFill>
                  <a:srgbClr val="E6EDF7"/>
                </a:solidFill>
                <a:latin typeface="Inter"/>
              </a:rPr>
              <a:t>La réponse s'ancre sur la base RH, pas sur la mémoire du modèle</a:t>
            </a:r>
          </a:p>
        </p:txBody>
      </p:sp>
      <p:pic>
        <p:nvPicPr>
          <p:cNvPr id="9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10" name="corps"/>
          <p:cNvSpPr txBox="1"/>
          <p:nvPr/>
        </p:nvSpPr>
        <p:spPr>
          <a:xfrm>
            <a:off x="685800" y="1920240"/>
            <a:ext cx="32918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 w="400">
                <a:solidFill>
                  <a:srgbClr val="93A0BF"/>
                </a:solidFill>
                <a:latin typeface="Inter"/>
              </a:rPr>
              <a:t>Chunking 512/128, embeddings 768d, recherche sémantique top-5 en SQL natif.</a:t>
            </a:r>
          </a:p>
        </p:txBody>
      </p:sp>
      <p:sp>
        <p:nvSpPr>
          <p:cNvPr id="11" name="code"/>
          <p:cNvSpPr/>
          <p:nvPr/>
        </p:nvSpPr>
        <p:spPr>
          <a:xfrm>
            <a:off x="4343400" y="1828800"/>
            <a:ext cx="7132320" cy="196596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de_header"/>
          <p:cNvSpPr/>
          <p:nvPr/>
        </p:nvSpPr>
        <p:spPr>
          <a:xfrm>
            <a:off x="4343400" y="1828800"/>
            <a:ext cx="7132320" cy="457200"/>
          </a:xfrm>
          <a:prstGeom prst="roundRect">
            <a:avLst>
              <a:gd name="adj" fmla="val 10000"/>
            </a:avLst>
          </a:prstGeom>
          <a:solidFill>
            <a:srgbClr val="21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cor"/>
          <p:cNvSpPr/>
          <p:nvPr/>
        </p:nvSpPr>
        <p:spPr>
          <a:xfrm>
            <a:off x="4663440" y="1984248"/>
            <a:ext cx="118872" cy="118872"/>
          </a:xfrm>
          <a:prstGeom prst="ellipse">
            <a:avLst/>
          </a:prstGeom>
          <a:solidFill>
            <a:srgbClr val="B55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ecor"/>
          <p:cNvSpPr/>
          <p:nvPr/>
        </p:nvSpPr>
        <p:spPr>
          <a:xfrm>
            <a:off x="4946904" y="1984248"/>
            <a:ext cx="118872" cy="118872"/>
          </a:xfrm>
          <a:prstGeom prst="ellipse">
            <a:avLst/>
          </a:prstGeom>
          <a:solidFill>
            <a:srgbClr val="659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ecor"/>
          <p:cNvSpPr/>
          <p:nvPr/>
        </p:nvSpPr>
        <p:spPr>
          <a:xfrm>
            <a:off x="5230368" y="1984248"/>
            <a:ext cx="118872" cy="118872"/>
          </a:xfrm>
          <a:prstGeom prst="ellipse">
            <a:avLst/>
          </a:prstGeom>
          <a:solidFill>
            <a:srgbClr val="5B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kicker"/>
          <p:cNvSpPr txBox="1"/>
          <p:nvPr/>
        </p:nvSpPr>
        <p:spPr>
          <a:xfrm>
            <a:off x="5715000" y="1938528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93A0BF"/>
                </a:solidFill>
                <a:latin typeface="JetBrains Mono"/>
              </a:rPr>
              <a:t>KnowledgeDocumentRepository.sql</a:t>
            </a:r>
          </a:p>
        </p:txBody>
      </p:sp>
      <p:sp>
        <p:nvSpPr>
          <p:cNvPr id="17" name="code_body"/>
          <p:cNvSpPr/>
          <p:nvPr/>
        </p:nvSpPr>
        <p:spPr>
          <a:xfrm>
            <a:off x="4361688" y="2286000"/>
            <a:ext cx="7095744" cy="1463040"/>
          </a:xfrm>
          <a:prstGeom prst="roundRect">
            <a:avLst>
              <a:gd name="adj" fmla="val 3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28016"/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C792EA"/>
                </a:solidFill>
                <a:latin typeface="JetBrains Mono"/>
              </a:rPr>
              <a:t>SELECT</a:t>
            </a:r>
            <a:r>
              <a:rPr sz="1600" b="0">
                <a:solidFill>
                  <a:srgbClr val="C792EA"/>
                </a:solidFill>
                <a:latin typeface="JetBrains Mono"/>
              </a:rPr>
              <a:t>TOP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(</a:t>
            </a:r>
            <a:r>
              <a:rPr sz="1600" b="0">
                <a:solidFill>
                  <a:srgbClr val="F78C6C"/>
                </a:solidFill>
                <a:latin typeface="JetBrains Mono"/>
              </a:rPr>
              <a:t>5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)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ChunkText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C792EA"/>
                </a:solidFill>
                <a:latin typeface="JetBrains Mono"/>
              </a:rPr>
              <a:t>FROM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KnowledgeDocuments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C792EA"/>
                </a:solidFill>
                <a:latin typeface="JetBrains Mono"/>
              </a:rPr>
              <a:t>ORDER</a:t>
            </a:r>
            <a:r>
              <a:rPr sz="1600" b="0">
                <a:solidFill>
                  <a:srgbClr val="C792EA"/>
                </a:solidFill>
                <a:latin typeface="JetBrains Mono"/>
              </a:rPr>
              <a:t>BY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VECTOR_DISTANCE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(</a:t>
            </a:r>
            <a:r>
              <a:rPr sz="1600" b="0">
                <a:solidFill>
                  <a:srgbClr val="89DDFF"/>
                </a:solidFill>
                <a:latin typeface="JetBrains Mono"/>
              </a:rPr>
              <a:t>'cosine'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,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Embedding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,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@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query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5B6B8C"/>
                </a:solidFill>
                <a:latin typeface="JetBrains Mono"/>
              </a:rPr>
              <a:t>  -- modèle : embeddinggemma · 768 dimensions</a:t>
            </a:r>
          </a:p>
        </p:txBody>
      </p:sp>
      <p:sp>
        <p:nvSpPr>
          <p:cNvPr id="18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eadcrumb"/>
          <p:cNvSpPr txBox="1"/>
          <p:nvPr/>
        </p:nvSpPr>
        <p:spPr>
          <a:xfrm>
            <a:off x="685800" y="4572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spc="250" w="600">
                <a:solidFill>
                  <a:srgbClr val="8FC1F0"/>
                </a:solidFill>
                <a:latin typeface="Inter"/>
              </a:rPr>
              <a:t>03 · LA MACHINERIE</a:t>
            </a:r>
          </a:p>
        </p:txBody>
      </p:sp>
      <p:sp>
        <p:nvSpPr>
          <p:cNvPr id="8" name="titre"/>
          <p:cNvSpPr txBox="1"/>
          <p:nvPr/>
        </p:nvSpPr>
        <p:spPr>
          <a:xfrm>
            <a:off x="685800" y="74980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w="800">
                <a:solidFill>
                  <a:srgbClr val="E6EDF7"/>
                </a:solidFill>
                <a:latin typeface="Inter"/>
              </a:rPr>
              <a:t>Cap métier à 50 % : 5 000 € accepté, 5 000,01 € refusé</a:t>
            </a:r>
          </a:p>
        </p:txBody>
      </p:sp>
      <p:pic>
        <p:nvPicPr>
          <p:cNvPr id="9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10" name="corps"/>
          <p:cNvSpPr txBox="1"/>
          <p:nvPr/>
        </p:nvSpPr>
        <p:spPr>
          <a:xfrm>
            <a:off x="685800" y="1920240"/>
            <a:ext cx="32918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 w="400">
                <a:solidFill>
                  <a:srgbClr val="93A0BF"/>
                </a:solidFill>
                <a:latin typeface="Inter"/>
              </a:rPr>
              <a:t>Use case pur dans Core : plafond + unicité. Le widget rendu dans le chat est généré par marqueur.</a:t>
            </a:r>
          </a:p>
        </p:txBody>
      </p:sp>
      <p:sp>
        <p:nvSpPr>
          <p:cNvPr id="11" name="av_0"/>
          <p:cNvSpPr/>
          <p:nvPr/>
        </p:nvSpPr>
        <p:spPr>
          <a:xfrm>
            <a:off x="4343400" y="2194560"/>
            <a:ext cx="1207008" cy="1005840"/>
          </a:xfrm>
          <a:prstGeom prst="roundRect">
            <a:avLst>
              <a:gd name="adj" fmla="val 10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rps"/>
          <p:cNvSpPr txBox="1"/>
          <p:nvPr/>
        </p:nvSpPr>
        <p:spPr>
          <a:xfrm>
            <a:off x="4434840" y="2304288"/>
            <a:ext cx="7406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6EDF7"/>
                </a:solidFill>
                <a:latin typeface="Inter"/>
              </a:rPr>
              <a:t>Chat</a:t>
            </a:r>
          </a:p>
        </p:txBody>
      </p:sp>
      <p:sp>
        <p:nvSpPr>
          <p:cNvPr id="13" name="corps"/>
          <p:cNvSpPr txBox="1"/>
          <p:nvPr/>
        </p:nvSpPr>
        <p:spPr>
          <a:xfrm>
            <a:off x="4434840" y="2578608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E6EDF7"/>
                </a:solidFill>
                <a:latin typeface="Inter"/>
              </a:rPr>
              <a:t>« avance de 2000 € »</a:t>
            </a:r>
          </a:p>
        </p:txBody>
      </p:sp>
      <p:sp>
        <p:nvSpPr>
          <p:cNvPr id="14" name="decor"/>
          <p:cNvSpPr/>
          <p:nvPr/>
        </p:nvSpPr>
        <p:spPr>
          <a:xfrm>
            <a:off x="5550408" y="2587752"/>
            <a:ext cx="146304" cy="219456"/>
          </a:xfrm>
          <a:prstGeom prst="rightArrow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v_1"/>
          <p:cNvSpPr/>
          <p:nvPr/>
        </p:nvSpPr>
        <p:spPr>
          <a:xfrm>
            <a:off x="5696712" y="2194560"/>
            <a:ext cx="1207008" cy="1005840"/>
          </a:xfrm>
          <a:prstGeom prst="roundRect">
            <a:avLst>
              <a:gd name="adj" fmla="val 10000"/>
            </a:avLst>
          </a:prstGeom>
          <a:solidFill>
            <a:srgbClr val="123680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rps"/>
          <p:cNvSpPr txBox="1"/>
          <p:nvPr/>
        </p:nvSpPr>
        <p:spPr>
          <a:xfrm>
            <a:off x="5788152" y="2304288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6EDF7"/>
                </a:solidFill>
                <a:latin typeface="Inter"/>
              </a:rPr>
              <a:t>Profiler</a:t>
            </a:r>
          </a:p>
        </p:txBody>
      </p:sp>
      <p:sp>
        <p:nvSpPr>
          <p:cNvPr id="17" name="corps"/>
          <p:cNvSpPr txBox="1"/>
          <p:nvPr/>
        </p:nvSpPr>
        <p:spPr>
          <a:xfrm>
            <a:off x="5788152" y="2578608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E6EDF7"/>
                </a:solidFill>
                <a:latin typeface="Inter"/>
              </a:rPr>
              <a:t>intention + entités</a:t>
            </a:r>
          </a:p>
        </p:txBody>
      </p:sp>
      <p:sp>
        <p:nvSpPr>
          <p:cNvPr id="18" name="decor"/>
          <p:cNvSpPr/>
          <p:nvPr/>
        </p:nvSpPr>
        <p:spPr>
          <a:xfrm>
            <a:off x="6903720" y="2587752"/>
            <a:ext cx="146304" cy="219456"/>
          </a:xfrm>
          <a:prstGeom prst="rightArrow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v_2"/>
          <p:cNvSpPr/>
          <p:nvPr/>
        </p:nvSpPr>
        <p:spPr>
          <a:xfrm>
            <a:off x="7050024" y="2194560"/>
            <a:ext cx="1207008" cy="1005840"/>
          </a:xfrm>
          <a:prstGeom prst="roundRect">
            <a:avLst>
              <a:gd name="adj" fmla="val 10000"/>
            </a:avLst>
          </a:prstGeom>
          <a:solidFill>
            <a:srgbClr val="B55927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rps"/>
          <p:cNvSpPr txBox="1"/>
          <p:nvPr/>
        </p:nvSpPr>
        <p:spPr>
          <a:xfrm>
            <a:off x="7141464" y="2304288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6EDF7"/>
                </a:solidFill>
                <a:latin typeface="Inter"/>
              </a:rPr>
              <a:t>Dispatcher</a:t>
            </a:r>
          </a:p>
        </p:txBody>
      </p:sp>
      <p:sp>
        <p:nvSpPr>
          <p:cNvPr id="21" name="corps"/>
          <p:cNvSpPr txBox="1"/>
          <p:nvPr/>
        </p:nvSpPr>
        <p:spPr>
          <a:xfrm>
            <a:off x="7141464" y="2578608"/>
            <a:ext cx="9509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E6EDF7"/>
                </a:solidFill>
                <a:latin typeface="Inter"/>
              </a:rPr>
              <a:t>RBAC ✓</a:t>
            </a:r>
          </a:p>
        </p:txBody>
      </p:sp>
      <p:sp>
        <p:nvSpPr>
          <p:cNvPr id="22" name="decor"/>
          <p:cNvSpPr/>
          <p:nvPr/>
        </p:nvSpPr>
        <p:spPr>
          <a:xfrm>
            <a:off x="8257031" y="2587752"/>
            <a:ext cx="146304" cy="219456"/>
          </a:xfrm>
          <a:prstGeom prst="rightArrow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v_3"/>
          <p:cNvSpPr/>
          <p:nvPr/>
        </p:nvSpPr>
        <p:spPr>
          <a:xfrm>
            <a:off x="8403336" y="2194560"/>
            <a:ext cx="1207008" cy="1005840"/>
          </a:xfrm>
          <a:prstGeom prst="roundRect">
            <a:avLst>
              <a:gd name="adj" fmla="val 10000"/>
            </a:avLst>
          </a:prstGeom>
          <a:solidFill>
            <a:srgbClr val="123680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rps"/>
          <p:cNvSpPr txBox="1"/>
          <p:nvPr/>
        </p:nvSpPr>
        <p:spPr>
          <a:xfrm>
            <a:off x="8494776" y="2304288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6EDF7"/>
                </a:solidFill>
                <a:latin typeface="Inter"/>
              </a:rPr>
              <a:t>Use Case Core</a:t>
            </a:r>
          </a:p>
        </p:txBody>
      </p:sp>
      <p:sp>
        <p:nvSpPr>
          <p:cNvPr id="25" name="corps"/>
          <p:cNvSpPr txBox="1"/>
          <p:nvPr/>
        </p:nvSpPr>
        <p:spPr>
          <a:xfrm>
            <a:off x="8494776" y="2578608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E6EDF7"/>
                </a:solidFill>
                <a:latin typeface="Inter"/>
              </a:rPr>
              <a:t>cap 50 % + unicité</a:t>
            </a:r>
          </a:p>
        </p:txBody>
      </p:sp>
      <p:sp>
        <p:nvSpPr>
          <p:cNvPr id="26" name="decor"/>
          <p:cNvSpPr/>
          <p:nvPr/>
        </p:nvSpPr>
        <p:spPr>
          <a:xfrm>
            <a:off x="9610344" y="2587752"/>
            <a:ext cx="146304" cy="219456"/>
          </a:xfrm>
          <a:prstGeom prst="rightArrow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v_4"/>
          <p:cNvSpPr/>
          <p:nvPr/>
        </p:nvSpPr>
        <p:spPr>
          <a:xfrm>
            <a:off x="9756648" y="2194560"/>
            <a:ext cx="1207008" cy="1005840"/>
          </a:xfrm>
          <a:prstGeom prst="roundRect">
            <a:avLst>
              <a:gd name="adj" fmla="val 10000"/>
            </a:avLst>
          </a:prstGeom>
          <a:solidFill>
            <a:srgbClr val="659ED4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rps"/>
          <p:cNvSpPr txBox="1"/>
          <p:nvPr/>
        </p:nvSpPr>
        <p:spPr>
          <a:xfrm>
            <a:off x="9848088" y="2304288"/>
            <a:ext cx="95097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6EDF7"/>
                </a:solidFill>
                <a:latin typeface="Inter"/>
              </a:rPr>
              <a:t>WIDGET</a:t>
            </a:r>
          </a:p>
        </p:txBody>
      </p:sp>
      <p:sp>
        <p:nvSpPr>
          <p:cNvPr id="29" name="corps"/>
          <p:cNvSpPr txBox="1"/>
          <p:nvPr/>
        </p:nvSpPr>
        <p:spPr>
          <a:xfrm>
            <a:off x="9848088" y="2578608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E6EDF7"/>
                </a:solidFill>
                <a:latin typeface="Inter"/>
              </a:rPr>
              <a:t>carte dans le chat</a:t>
            </a:r>
          </a:p>
        </p:txBody>
      </p:sp>
      <p:sp>
        <p:nvSpPr>
          <p:cNvPr id="30" name="cap"/>
          <p:cNvSpPr/>
          <p:nvPr/>
        </p:nvSpPr>
        <p:spPr>
          <a:xfrm>
            <a:off x="4343400" y="3657600"/>
            <a:ext cx="7132320" cy="548640"/>
          </a:xfrm>
          <a:prstGeom prst="roundRect">
            <a:avLst>
              <a:gd name="adj" fmla="val 10000"/>
            </a:avLst>
          </a:prstGeom>
          <a:solidFill>
            <a:srgbClr val="111B33"/>
          </a:solidFill>
          <a:ln w="15875">
            <a:solidFill>
              <a:srgbClr val="659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rps"/>
          <p:cNvSpPr txBox="1"/>
          <p:nvPr/>
        </p:nvSpPr>
        <p:spPr>
          <a:xfrm>
            <a:off x="4434840" y="3767328"/>
            <a:ext cx="42108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8FC1F0"/>
                </a:solidFill>
                <a:latin typeface="Inter"/>
              </a:rPr>
              <a:t>5 000 € accepté  ·  5 000,01 € refusé</a:t>
            </a:r>
          </a:p>
        </p:txBody>
      </p:sp>
      <p:sp>
        <p:nvSpPr>
          <p:cNvPr id="32" name="cap_0"/>
          <p:cNvSpPr/>
          <p:nvPr/>
        </p:nvSpPr>
        <p:spPr>
          <a:xfrm>
            <a:off x="685800" y="5486400"/>
            <a:ext cx="3383280" cy="777240"/>
          </a:xfrm>
          <a:prstGeom prst="roundRect">
            <a:avLst>
              <a:gd name="adj" fmla="val 14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ap_v"/>
          <p:cNvSpPr txBox="1"/>
          <p:nvPr/>
        </p:nvSpPr>
        <p:spPr>
          <a:xfrm>
            <a:off x="868680" y="55321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0" w="800">
                <a:solidFill>
                  <a:srgbClr val="8FC1F0"/>
                </a:solidFill>
                <a:latin typeface="Inter"/>
              </a:rPr>
              <a:t>50 %</a:t>
            </a:r>
          </a:p>
        </p:txBody>
      </p:sp>
      <p:sp>
        <p:nvSpPr>
          <p:cNvPr id="34" name="cap_l"/>
          <p:cNvSpPr txBox="1"/>
          <p:nvPr/>
        </p:nvSpPr>
        <p:spPr>
          <a:xfrm>
            <a:off x="868680" y="59436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0BF"/>
                </a:solidFill>
                <a:latin typeface="Inter"/>
              </a:rPr>
              <a:t>Cap sur le salaire net</a:t>
            </a:r>
          </a:p>
        </p:txBody>
      </p:sp>
      <p:sp>
        <p:nvSpPr>
          <p:cNvPr id="35" name="cap_1"/>
          <p:cNvSpPr/>
          <p:nvPr/>
        </p:nvSpPr>
        <p:spPr>
          <a:xfrm>
            <a:off x="4343400" y="5486400"/>
            <a:ext cx="3383280" cy="777240"/>
          </a:xfrm>
          <a:prstGeom prst="roundRect">
            <a:avLst>
              <a:gd name="adj" fmla="val 14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ap_v"/>
          <p:cNvSpPr txBox="1"/>
          <p:nvPr/>
        </p:nvSpPr>
        <p:spPr>
          <a:xfrm>
            <a:off x="4526280" y="55321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0" w="800">
                <a:solidFill>
                  <a:srgbClr val="8FC1F0"/>
                </a:solidFill>
                <a:latin typeface="Inter"/>
              </a:rPr>
              <a:t>1</a:t>
            </a:r>
          </a:p>
        </p:txBody>
      </p:sp>
      <p:sp>
        <p:nvSpPr>
          <p:cNvPr id="37" name="cap_l"/>
          <p:cNvSpPr txBox="1"/>
          <p:nvPr/>
        </p:nvSpPr>
        <p:spPr>
          <a:xfrm>
            <a:off x="4526280" y="59436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0BF"/>
                </a:solidFill>
                <a:latin typeface="Inter"/>
              </a:rPr>
              <a:t>Seul Pending par employé</a:t>
            </a:r>
          </a:p>
        </p:txBody>
      </p:sp>
      <p:sp>
        <p:nvSpPr>
          <p:cNvPr id="38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eadcrumb"/>
          <p:cNvSpPr txBox="1"/>
          <p:nvPr/>
        </p:nvSpPr>
        <p:spPr>
          <a:xfrm>
            <a:off x="685800" y="4572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spc="250" w="600">
                <a:solidFill>
                  <a:srgbClr val="8FC1F0"/>
                </a:solidFill>
                <a:latin typeface="Inter"/>
              </a:rPr>
              <a:t>03 · LA MACHINERIE</a:t>
            </a:r>
          </a:p>
        </p:txBody>
      </p:sp>
      <p:sp>
        <p:nvSpPr>
          <p:cNvPr id="8" name="titre"/>
          <p:cNvSpPr txBox="1"/>
          <p:nvPr/>
        </p:nvSpPr>
        <p:spPr>
          <a:xfrm>
            <a:off x="685800" y="74980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w="800">
                <a:solidFill>
                  <a:srgbClr val="E6EDF7"/>
                </a:solidFill>
                <a:latin typeface="Inter"/>
              </a:rPr>
              <a:t>Le JWT ne quitte jamais le serveur : BFF en cookie httpOnly</a:t>
            </a:r>
          </a:p>
        </p:txBody>
      </p:sp>
      <p:pic>
        <p:nvPicPr>
          <p:cNvPr id="9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10" name="corps"/>
          <p:cNvSpPr txBox="1"/>
          <p:nvPr/>
        </p:nvSpPr>
        <p:spPr>
          <a:xfrm>
            <a:off x="685800" y="1920240"/>
            <a:ext cx="32918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 w="400">
                <a:solidFill>
                  <a:srgbClr val="93A0BF"/>
                </a:solidFill>
                <a:latin typeface="Inter"/>
              </a:rPr>
              <a:t>Le navigateur ne voit aucun token. Le BFF proxifie et injecte l'en-tête côté serveur.</a:t>
            </a:r>
          </a:p>
        </p:txBody>
      </p:sp>
      <p:sp>
        <p:nvSpPr>
          <p:cNvPr id="11" name="mockup"/>
          <p:cNvSpPr/>
          <p:nvPr/>
        </p:nvSpPr>
        <p:spPr>
          <a:xfrm>
            <a:off x="4343400" y="1828800"/>
            <a:ext cx="3383280" cy="2926080"/>
          </a:xfrm>
          <a:prstGeom prst="roundRect">
            <a:avLst>
              <a:gd name="adj" fmla="val 6000"/>
            </a:avLst>
          </a:prstGeom>
          <a:solidFill>
            <a:srgbClr val="16213F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ockup_bar"/>
          <p:cNvSpPr/>
          <p:nvPr/>
        </p:nvSpPr>
        <p:spPr>
          <a:xfrm>
            <a:off x="4379976" y="1865376"/>
            <a:ext cx="3310128" cy="310896"/>
          </a:xfrm>
          <a:prstGeom prst="roundRect">
            <a:avLst>
              <a:gd name="adj" fmla="val 12000"/>
            </a:avLst>
          </a:prstGeom>
          <a:solidFill>
            <a:srgbClr val="21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cor"/>
          <p:cNvSpPr/>
          <p:nvPr/>
        </p:nvSpPr>
        <p:spPr>
          <a:xfrm>
            <a:off x="4663440" y="1947672"/>
            <a:ext cx="100584" cy="100584"/>
          </a:xfrm>
          <a:prstGeom prst="ellipse">
            <a:avLst/>
          </a:prstGeom>
          <a:solidFill>
            <a:srgbClr val="B55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ecor"/>
          <p:cNvSpPr/>
          <p:nvPr/>
        </p:nvSpPr>
        <p:spPr>
          <a:xfrm>
            <a:off x="4946904" y="1947672"/>
            <a:ext cx="100584" cy="100584"/>
          </a:xfrm>
          <a:prstGeom prst="ellipse">
            <a:avLst/>
          </a:prstGeom>
          <a:solidFill>
            <a:srgbClr val="659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ecor"/>
          <p:cNvSpPr/>
          <p:nvPr/>
        </p:nvSpPr>
        <p:spPr>
          <a:xfrm>
            <a:off x="5230368" y="1947672"/>
            <a:ext cx="100584" cy="100584"/>
          </a:xfrm>
          <a:prstGeom prst="ellipse">
            <a:avLst/>
          </a:prstGeom>
          <a:solidFill>
            <a:srgbClr val="5B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te"/>
          <p:cNvSpPr/>
          <p:nvPr/>
        </p:nvSpPr>
        <p:spPr>
          <a:xfrm>
            <a:off x="4434840" y="2368296"/>
            <a:ext cx="3200400" cy="2194560"/>
          </a:xfrm>
          <a:prstGeom prst="roundRect">
            <a:avLst>
              <a:gd name="adj" fmla="val 10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05840"/>
          <a:lstStyle/>
          <a:p>
            <a:pPr algn="ctr"/>
            <a:r>
              <a:rPr sz="1300" b="0">
                <a:solidFill>
                  <a:srgbClr val="93A0BF"/>
                </a:solidFill>
                <a:latin typeface="Inter"/>
              </a:rPr>
              <a:t>Emplacement réservé — capture à insérer</a:t>
            </a:r>
          </a:p>
        </p:txBody>
      </p:sp>
      <p:pic>
        <p:nvPicPr>
          <p:cNvPr id="17" name="Picture 16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2688336"/>
            <a:ext cx="548640" cy="548640"/>
          </a:xfrm>
          <a:prstGeom prst="rect">
            <a:avLst/>
          </a:prstGeom>
        </p:spPr>
      </p:pic>
      <p:sp>
        <p:nvSpPr>
          <p:cNvPr id="18" name="caption"/>
          <p:cNvSpPr txBox="1"/>
          <p:nvPr/>
        </p:nvSpPr>
        <p:spPr>
          <a:xfrm>
            <a:off x="4343400" y="4791456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B6B8C"/>
                </a:solidFill>
                <a:latin typeface="Inter"/>
              </a:rPr>
              <a:t>Chat AGIRH — discussion</a:t>
            </a:r>
          </a:p>
        </p:txBody>
      </p:sp>
      <p:sp>
        <p:nvSpPr>
          <p:cNvPr id="19" name="mockup"/>
          <p:cNvSpPr/>
          <p:nvPr/>
        </p:nvSpPr>
        <p:spPr>
          <a:xfrm>
            <a:off x="8092440" y="1828800"/>
            <a:ext cx="3383280" cy="2926080"/>
          </a:xfrm>
          <a:prstGeom prst="roundRect">
            <a:avLst>
              <a:gd name="adj" fmla="val 6000"/>
            </a:avLst>
          </a:prstGeom>
          <a:solidFill>
            <a:srgbClr val="16213F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mockup_bar"/>
          <p:cNvSpPr/>
          <p:nvPr/>
        </p:nvSpPr>
        <p:spPr>
          <a:xfrm>
            <a:off x="8129016" y="1865376"/>
            <a:ext cx="3310128" cy="310896"/>
          </a:xfrm>
          <a:prstGeom prst="roundRect">
            <a:avLst>
              <a:gd name="adj" fmla="val 12000"/>
            </a:avLst>
          </a:prstGeom>
          <a:solidFill>
            <a:srgbClr val="21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ecor"/>
          <p:cNvSpPr/>
          <p:nvPr/>
        </p:nvSpPr>
        <p:spPr>
          <a:xfrm>
            <a:off x="8412480" y="1947672"/>
            <a:ext cx="100584" cy="100584"/>
          </a:xfrm>
          <a:prstGeom prst="ellipse">
            <a:avLst/>
          </a:prstGeom>
          <a:solidFill>
            <a:srgbClr val="B55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ecor"/>
          <p:cNvSpPr/>
          <p:nvPr/>
        </p:nvSpPr>
        <p:spPr>
          <a:xfrm>
            <a:off x="8695944" y="1947672"/>
            <a:ext cx="100584" cy="100584"/>
          </a:xfrm>
          <a:prstGeom prst="ellipse">
            <a:avLst/>
          </a:prstGeom>
          <a:solidFill>
            <a:srgbClr val="659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ecor"/>
          <p:cNvSpPr/>
          <p:nvPr/>
        </p:nvSpPr>
        <p:spPr>
          <a:xfrm>
            <a:off x="8979408" y="1947672"/>
            <a:ext cx="100584" cy="100584"/>
          </a:xfrm>
          <a:prstGeom prst="ellipse">
            <a:avLst/>
          </a:prstGeom>
          <a:solidFill>
            <a:srgbClr val="5B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te"/>
          <p:cNvSpPr/>
          <p:nvPr/>
        </p:nvSpPr>
        <p:spPr>
          <a:xfrm>
            <a:off x="8183880" y="2368296"/>
            <a:ext cx="3200400" cy="2194560"/>
          </a:xfrm>
          <a:prstGeom prst="roundRect">
            <a:avLst>
              <a:gd name="adj" fmla="val 10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05840"/>
          <a:lstStyle/>
          <a:p>
            <a:pPr algn="ctr"/>
            <a:r>
              <a:rPr sz="1300" b="0">
                <a:solidFill>
                  <a:srgbClr val="93A0BF"/>
                </a:solidFill>
                <a:latin typeface="Inter"/>
              </a:rPr>
              <a:t>Emplacement réservé — capture à insérer</a:t>
            </a:r>
          </a:p>
        </p:txBody>
      </p:sp>
      <p:pic>
        <p:nvPicPr>
          <p:cNvPr id="25" name="Picture 24" descr="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2688336"/>
            <a:ext cx="548640" cy="548640"/>
          </a:xfrm>
          <a:prstGeom prst="rect">
            <a:avLst/>
          </a:prstGeom>
        </p:spPr>
      </p:pic>
      <p:sp>
        <p:nvSpPr>
          <p:cNvPr id="26" name="caption"/>
          <p:cNvSpPr txBox="1"/>
          <p:nvPr/>
        </p:nvSpPr>
        <p:spPr>
          <a:xfrm>
            <a:off x="8092440" y="4791456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B6B8C"/>
                </a:solidFill>
                <a:latin typeface="Inter"/>
              </a:rPr>
              <a:t>Widget avance sur salaire</a:t>
            </a:r>
          </a:p>
        </p:txBody>
      </p:sp>
      <p:sp>
        <p:nvSpPr>
          <p:cNvPr id="27" name="carte"/>
          <p:cNvSpPr/>
          <p:nvPr/>
        </p:nvSpPr>
        <p:spPr>
          <a:xfrm>
            <a:off x="4343400" y="5074920"/>
            <a:ext cx="2225040" cy="1188720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9704" y="5221224"/>
            <a:ext cx="274320" cy="274320"/>
          </a:xfrm>
          <a:prstGeom prst="rect">
            <a:avLst/>
          </a:prstGeom>
        </p:spPr>
      </p:pic>
      <p:sp>
        <p:nvSpPr>
          <p:cNvPr id="29" name="carte_t"/>
          <p:cNvSpPr txBox="1"/>
          <p:nvPr/>
        </p:nvSpPr>
        <p:spPr>
          <a:xfrm>
            <a:off x="4489704" y="5550408"/>
            <a:ext cx="1932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103 → 206 kB</a:t>
            </a:r>
          </a:p>
        </p:txBody>
      </p:sp>
      <p:sp>
        <p:nvSpPr>
          <p:cNvPr id="30" name="carte_d"/>
          <p:cNvSpPr txBox="1"/>
          <p:nvPr/>
        </p:nvSpPr>
        <p:spPr>
          <a:xfrm>
            <a:off x="4489704" y="5843016"/>
            <a:ext cx="19324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First Load global → chat</a:t>
            </a:r>
          </a:p>
        </p:txBody>
      </p:sp>
      <p:sp>
        <p:nvSpPr>
          <p:cNvPr id="31" name="carte"/>
          <p:cNvSpPr/>
          <p:nvPr/>
        </p:nvSpPr>
        <p:spPr>
          <a:xfrm>
            <a:off x="6797040" y="5074920"/>
            <a:ext cx="2225040" cy="1188720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3344" y="5221224"/>
            <a:ext cx="274320" cy="274320"/>
          </a:xfrm>
          <a:prstGeom prst="rect">
            <a:avLst/>
          </a:prstGeom>
        </p:spPr>
      </p:pic>
      <p:sp>
        <p:nvSpPr>
          <p:cNvPr id="33" name="carte_t"/>
          <p:cNvSpPr txBox="1"/>
          <p:nvPr/>
        </p:nvSpPr>
        <p:spPr>
          <a:xfrm>
            <a:off x="6943344" y="5550408"/>
            <a:ext cx="1932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≤ 10 re-rendus/s</a:t>
            </a:r>
          </a:p>
        </p:txBody>
      </p:sp>
      <p:sp>
        <p:nvSpPr>
          <p:cNvPr id="34" name="carte_d"/>
          <p:cNvSpPr txBox="1"/>
          <p:nvPr/>
        </p:nvSpPr>
        <p:spPr>
          <a:xfrm>
            <a:off x="6943344" y="5843016"/>
            <a:ext cx="19324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Streaming par lots</a:t>
            </a:r>
          </a:p>
        </p:txBody>
      </p:sp>
      <p:sp>
        <p:nvSpPr>
          <p:cNvPr id="35" name="carte"/>
          <p:cNvSpPr/>
          <p:nvPr/>
        </p:nvSpPr>
        <p:spPr>
          <a:xfrm>
            <a:off x="9250680" y="5074920"/>
            <a:ext cx="2225040" cy="1188720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6984" y="5221224"/>
            <a:ext cx="274320" cy="274320"/>
          </a:xfrm>
          <a:prstGeom prst="rect">
            <a:avLst/>
          </a:prstGeom>
        </p:spPr>
      </p:pic>
      <p:sp>
        <p:nvSpPr>
          <p:cNvPr id="37" name="carte_t"/>
          <p:cNvSpPr txBox="1"/>
          <p:nvPr/>
        </p:nvSpPr>
        <p:spPr>
          <a:xfrm>
            <a:off x="9396984" y="5550408"/>
            <a:ext cx="1932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0 XSS</a:t>
            </a:r>
          </a:p>
        </p:txBody>
      </p:sp>
      <p:sp>
        <p:nvSpPr>
          <p:cNvPr id="38" name="carte_d"/>
          <p:cNvSpPr txBox="1"/>
          <p:nvPr/>
        </p:nvSpPr>
        <p:spPr>
          <a:xfrm>
            <a:off x="9396984" y="5843016"/>
            <a:ext cx="19324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Markdown sanitizé (liste blanche)</a:t>
            </a:r>
          </a:p>
        </p:txBody>
      </p:sp>
      <p:sp>
        <p:nvSpPr>
          <p:cNvPr id="39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r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r"/>
          <p:cNvSpPr txBox="1"/>
          <p:nvPr/>
        </p:nvSpPr>
        <p:spPr>
          <a:xfrm>
            <a:off x="7985455" y="128016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0" b="0" w="800">
                <a:solidFill>
                  <a:srgbClr val="111B33"/>
                </a:solidFill>
                <a:latin typeface="Inter"/>
              </a:rPr>
              <a:t>04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1523847" y="25146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spc="300" w="700">
                <a:solidFill>
                  <a:srgbClr val="E59B5F"/>
                </a:solidFill>
                <a:latin typeface="Inter"/>
              </a:rPr>
              <a:t>PARTIE 04</a:t>
            </a:r>
          </a:p>
        </p:txBody>
      </p:sp>
      <p:sp>
        <p:nvSpPr>
          <p:cNvPr id="10" name="titre"/>
          <p:cNvSpPr txBox="1"/>
          <p:nvPr/>
        </p:nvSpPr>
        <p:spPr>
          <a:xfrm>
            <a:off x="1523847" y="288036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000" b="0" w="800">
                <a:solidFill>
                  <a:srgbClr val="E6EDF7"/>
                </a:solidFill>
                <a:latin typeface="Inter"/>
              </a:rPr>
              <a:t>La Validation</a:t>
            </a:r>
          </a:p>
        </p:txBody>
      </p:sp>
      <p:sp>
        <p:nvSpPr>
          <p:cNvPr id="11" name="decor"/>
          <p:cNvSpPr/>
          <p:nvPr/>
        </p:nvSpPr>
        <p:spPr>
          <a:xfrm>
            <a:off x="5181447" y="4069080"/>
            <a:ext cx="1828800" cy="27432"/>
          </a:xfrm>
          <a:prstGeom prst="rect">
            <a:avLst/>
          </a:prstGeom>
          <a:solidFill>
            <a:srgbClr val="B5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rps"/>
          <p:cNvSpPr txBox="1"/>
          <p:nvPr/>
        </p:nvSpPr>
        <p:spPr>
          <a:xfrm>
            <a:off x="1523847" y="42062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93A0BF"/>
                </a:solidFill>
                <a:latin typeface="Inter"/>
              </a:rPr>
              <a:t>Preuves mesurées, observabilité, passage à l'échelle</a:t>
            </a:r>
          </a:p>
        </p:txBody>
      </p:sp>
      <p:sp>
        <p:nvSpPr>
          <p:cNvPr id="13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eadcrumb"/>
          <p:cNvSpPr txBox="1"/>
          <p:nvPr/>
        </p:nvSpPr>
        <p:spPr>
          <a:xfrm>
            <a:off x="685800" y="4572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spc="250" w="600">
                <a:solidFill>
                  <a:srgbClr val="8FC1F0"/>
                </a:solidFill>
                <a:latin typeface="Inter"/>
              </a:rPr>
              <a:t>04 · LA VALIDATION</a:t>
            </a:r>
          </a:p>
        </p:txBody>
      </p:sp>
      <p:sp>
        <p:nvSpPr>
          <p:cNvPr id="8" name="titre"/>
          <p:cNvSpPr txBox="1"/>
          <p:nvPr/>
        </p:nvSpPr>
        <p:spPr>
          <a:xfrm>
            <a:off x="685800" y="74980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w="800">
                <a:solidFill>
                  <a:srgbClr val="E6EDF7"/>
                </a:solidFill>
                <a:latin typeface="Inter"/>
              </a:rPr>
              <a:t>Des performances mesurées, reproductibles, prouvées</a:t>
            </a:r>
          </a:p>
        </p:txBody>
      </p:sp>
      <p:pic>
        <p:nvPicPr>
          <p:cNvPr id="9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10" name="kpi_0"/>
          <p:cNvSpPr/>
          <p:nvPr/>
        </p:nvSpPr>
        <p:spPr>
          <a:xfrm>
            <a:off x="685800" y="2103120"/>
            <a:ext cx="2514600" cy="2926080"/>
          </a:xfrm>
          <a:prstGeom prst="roundRect">
            <a:avLst>
              <a:gd name="adj" fmla="val 10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cor"/>
          <p:cNvSpPr/>
          <p:nvPr/>
        </p:nvSpPr>
        <p:spPr>
          <a:xfrm>
            <a:off x="868680" y="2103120"/>
            <a:ext cx="2148840" cy="36576"/>
          </a:xfrm>
          <a:prstGeom prst="rect">
            <a:avLst/>
          </a:prstGeom>
          <a:solidFill>
            <a:srgbClr val="8FC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pi_v"/>
          <p:cNvSpPr txBox="1"/>
          <p:nvPr/>
        </p:nvSpPr>
        <p:spPr>
          <a:xfrm>
            <a:off x="868680" y="2560320"/>
            <a:ext cx="2148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800" b="0" w="800">
                <a:solidFill>
                  <a:srgbClr val="8FC1F0"/>
                </a:solidFill>
                <a:latin typeface="Inter"/>
              </a:rPr>
              <a:t>90/90</a:t>
            </a:r>
          </a:p>
        </p:txBody>
      </p:sp>
      <p:sp>
        <p:nvSpPr>
          <p:cNvPr id="13" name="kpi_l"/>
          <p:cNvSpPr txBox="1"/>
          <p:nvPr/>
        </p:nvSpPr>
        <p:spPr>
          <a:xfrm>
            <a:off x="868680" y="4114800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93A0BF"/>
                </a:solidFill>
                <a:latin typeface="Inter"/>
              </a:rPr>
              <a:t>tests xUnit verts · happy / boundary / security / failure</a:t>
            </a:r>
          </a:p>
        </p:txBody>
      </p:sp>
      <p:sp>
        <p:nvSpPr>
          <p:cNvPr id="14" name="kpi_1"/>
          <p:cNvSpPr/>
          <p:nvPr/>
        </p:nvSpPr>
        <p:spPr>
          <a:xfrm>
            <a:off x="3419856" y="2103120"/>
            <a:ext cx="2514600" cy="2926080"/>
          </a:xfrm>
          <a:prstGeom prst="roundRect">
            <a:avLst>
              <a:gd name="adj" fmla="val 10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ecor"/>
          <p:cNvSpPr/>
          <p:nvPr/>
        </p:nvSpPr>
        <p:spPr>
          <a:xfrm>
            <a:off x="3602736" y="2103120"/>
            <a:ext cx="2148840" cy="36576"/>
          </a:xfrm>
          <a:prstGeom prst="rect">
            <a:avLst/>
          </a:prstGeom>
          <a:solidFill>
            <a:srgbClr val="E59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kpi_v"/>
          <p:cNvSpPr txBox="1"/>
          <p:nvPr/>
        </p:nvSpPr>
        <p:spPr>
          <a:xfrm>
            <a:off x="3602736" y="2560320"/>
            <a:ext cx="2148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800" b="0" w="800">
                <a:solidFill>
                  <a:srgbClr val="E59B5F"/>
                </a:solidFill>
                <a:latin typeface="Inter"/>
              </a:rPr>
              <a:t>~30 ms</a:t>
            </a:r>
          </a:p>
        </p:txBody>
      </p:sp>
      <p:sp>
        <p:nvSpPr>
          <p:cNvPr id="17" name="kpi_l"/>
          <p:cNvSpPr txBox="1"/>
          <p:nvPr/>
        </p:nvSpPr>
        <p:spPr>
          <a:xfrm>
            <a:off x="3602736" y="4114800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93A0BF"/>
                </a:solidFill>
                <a:latin typeface="Inter"/>
              </a:rPr>
              <a:t>par token, streaming SSE</a:t>
            </a:r>
          </a:p>
        </p:txBody>
      </p:sp>
      <p:sp>
        <p:nvSpPr>
          <p:cNvPr id="18" name="kpi_2"/>
          <p:cNvSpPr/>
          <p:nvPr/>
        </p:nvSpPr>
        <p:spPr>
          <a:xfrm>
            <a:off x="6153912" y="2103120"/>
            <a:ext cx="2514600" cy="2926080"/>
          </a:xfrm>
          <a:prstGeom prst="roundRect">
            <a:avLst>
              <a:gd name="adj" fmla="val 10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ecor"/>
          <p:cNvSpPr/>
          <p:nvPr/>
        </p:nvSpPr>
        <p:spPr>
          <a:xfrm>
            <a:off x="6336792" y="2103120"/>
            <a:ext cx="2148840" cy="36576"/>
          </a:xfrm>
          <a:prstGeom prst="rect">
            <a:avLst/>
          </a:prstGeom>
          <a:solidFill>
            <a:srgbClr val="8FC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kpi_v"/>
          <p:cNvSpPr txBox="1"/>
          <p:nvPr/>
        </p:nvSpPr>
        <p:spPr>
          <a:xfrm>
            <a:off x="6336792" y="2560320"/>
            <a:ext cx="2148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800" b="0" w="800">
                <a:solidFill>
                  <a:srgbClr val="8FC1F0"/>
                </a:solidFill>
                <a:latin typeface="Inter"/>
              </a:rPr>
              <a:t>&lt; 200 ms</a:t>
            </a:r>
          </a:p>
        </p:txBody>
      </p:sp>
      <p:sp>
        <p:nvSpPr>
          <p:cNvPr id="21" name="kpi_l"/>
          <p:cNvSpPr txBox="1"/>
          <p:nvPr/>
        </p:nvSpPr>
        <p:spPr>
          <a:xfrm>
            <a:off x="6336792" y="4114800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93A0BF"/>
                </a:solidFill>
                <a:latin typeface="Inter"/>
              </a:rPr>
              <a:t>salutations pré-LLM</a:t>
            </a:r>
          </a:p>
        </p:txBody>
      </p:sp>
      <p:sp>
        <p:nvSpPr>
          <p:cNvPr id="22" name="kpi_3"/>
          <p:cNvSpPr/>
          <p:nvPr/>
        </p:nvSpPr>
        <p:spPr>
          <a:xfrm>
            <a:off x="8887968" y="2103120"/>
            <a:ext cx="2514600" cy="2926080"/>
          </a:xfrm>
          <a:prstGeom prst="roundRect">
            <a:avLst>
              <a:gd name="adj" fmla="val 10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ecor"/>
          <p:cNvSpPr/>
          <p:nvPr/>
        </p:nvSpPr>
        <p:spPr>
          <a:xfrm>
            <a:off x="9070848" y="2103120"/>
            <a:ext cx="2148840" cy="36576"/>
          </a:xfrm>
          <a:prstGeom prst="rect">
            <a:avLst/>
          </a:prstGeom>
          <a:solidFill>
            <a:srgbClr val="E59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kpi_v"/>
          <p:cNvSpPr txBox="1"/>
          <p:nvPr/>
        </p:nvSpPr>
        <p:spPr>
          <a:xfrm>
            <a:off x="9070848" y="2560320"/>
            <a:ext cx="2148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800" b="0" w="800">
                <a:solidFill>
                  <a:srgbClr val="E59B5F"/>
                </a:solidFill>
                <a:latin typeface="Inter"/>
              </a:rPr>
              <a:t>103 → 206 kB</a:t>
            </a:r>
          </a:p>
        </p:txBody>
      </p:sp>
      <p:sp>
        <p:nvSpPr>
          <p:cNvPr id="25" name="kpi_l"/>
          <p:cNvSpPr txBox="1"/>
          <p:nvPr/>
        </p:nvSpPr>
        <p:spPr>
          <a:xfrm>
            <a:off x="9070848" y="4114800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93A0BF"/>
                </a:solidFill>
                <a:latin typeface="Inter"/>
              </a:rPr>
              <a:t>First Load global → chat</a:t>
            </a:r>
          </a:p>
        </p:txBody>
      </p:sp>
      <p:sp>
        <p:nvSpPr>
          <p:cNvPr id="26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eadcrumb"/>
          <p:cNvSpPr txBox="1"/>
          <p:nvPr/>
        </p:nvSpPr>
        <p:spPr>
          <a:xfrm>
            <a:off x="685800" y="4572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spc="250" w="600">
                <a:solidFill>
                  <a:srgbClr val="8FC1F0"/>
                </a:solidFill>
                <a:latin typeface="Inter"/>
              </a:rPr>
              <a:t>04 · LA VALIDATION</a:t>
            </a:r>
          </a:p>
        </p:txBody>
      </p:sp>
      <p:sp>
        <p:nvSpPr>
          <p:cNvPr id="8" name="titre"/>
          <p:cNvSpPr txBox="1"/>
          <p:nvPr/>
        </p:nvSpPr>
        <p:spPr>
          <a:xfrm>
            <a:off x="685800" y="74980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w="800">
                <a:solidFill>
                  <a:srgbClr val="E6EDF7"/>
                </a:solidFill>
                <a:latin typeface="Inter"/>
              </a:rPr>
              <a:t>Industrialisation : de la démo au déploiement</a:t>
            </a:r>
          </a:p>
        </p:txBody>
      </p:sp>
      <p:pic>
        <p:nvPicPr>
          <p:cNvPr id="9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10" name="carte"/>
          <p:cNvSpPr/>
          <p:nvPr/>
        </p:nvSpPr>
        <p:spPr>
          <a:xfrm>
            <a:off x="685800" y="182880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cor"/>
          <p:cNvSpPr/>
          <p:nvPr/>
        </p:nvSpPr>
        <p:spPr>
          <a:xfrm>
            <a:off x="795528" y="1828800"/>
            <a:ext cx="3234842" cy="27432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975104"/>
            <a:ext cx="274320" cy="274320"/>
          </a:xfrm>
          <a:prstGeom prst="rect">
            <a:avLst/>
          </a:prstGeom>
        </p:spPr>
      </p:pic>
      <p:sp>
        <p:nvSpPr>
          <p:cNvPr id="13" name="carte_t"/>
          <p:cNvSpPr txBox="1"/>
          <p:nvPr/>
        </p:nvSpPr>
        <p:spPr>
          <a:xfrm>
            <a:off x="832104" y="230428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Conteneuriser l'API</a:t>
            </a:r>
          </a:p>
        </p:txBody>
      </p:sp>
      <p:sp>
        <p:nvSpPr>
          <p:cNvPr id="14" name="carte_d"/>
          <p:cNvSpPr txBox="1"/>
          <p:nvPr/>
        </p:nvSpPr>
        <p:spPr>
          <a:xfrm>
            <a:off x="832104" y="259689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Image .NET pour déploiement serveur</a:t>
            </a:r>
          </a:p>
        </p:txBody>
      </p:sp>
      <p:sp>
        <p:nvSpPr>
          <p:cNvPr id="15" name="carte"/>
          <p:cNvSpPr/>
          <p:nvPr/>
        </p:nvSpPr>
        <p:spPr>
          <a:xfrm>
            <a:off x="4368698" y="182880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5002" y="1975104"/>
            <a:ext cx="274320" cy="274320"/>
          </a:xfrm>
          <a:prstGeom prst="rect">
            <a:avLst/>
          </a:prstGeom>
        </p:spPr>
      </p:pic>
      <p:sp>
        <p:nvSpPr>
          <p:cNvPr id="17" name="carte_t"/>
          <p:cNvSpPr txBox="1"/>
          <p:nvPr/>
        </p:nvSpPr>
        <p:spPr>
          <a:xfrm>
            <a:off x="4515002" y="230428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Tests JS automatisés</a:t>
            </a:r>
          </a:p>
        </p:txBody>
      </p:sp>
      <p:sp>
        <p:nvSpPr>
          <p:cNvPr id="18" name="carte_d"/>
          <p:cNvSpPr txBox="1"/>
          <p:nvPr/>
        </p:nvSpPr>
        <p:spPr>
          <a:xfrm>
            <a:off x="4515002" y="259689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vitest + React Testing Library</a:t>
            </a:r>
          </a:p>
        </p:txBody>
      </p:sp>
      <p:sp>
        <p:nvSpPr>
          <p:cNvPr id="19" name="carte"/>
          <p:cNvSpPr/>
          <p:nvPr/>
        </p:nvSpPr>
        <p:spPr>
          <a:xfrm>
            <a:off x="8051596" y="182880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ecor"/>
          <p:cNvSpPr/>
          <p:nvPr/>
        </p:nvSpPr>
        <p:spPr>
          <a:xfrm>
            <a:off x="8161324" y="1828800"/>
            <a:ext cx="3234842" cy="27432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7900" y="1975104"/>
            <a:ext cx="274320" cy="274320"/>
          </a:xfrm>
          <a:prstGeom prst="rect">
            <a:avLst/>
          </a:prstGeom>
        </p:spPr>
      </p:pic>
      <p:sp>
        <p:nvSpPr>
          <p:cNvPr id="22" name="carte_t"/>
          <p:cNvSpPr txBox="1"/>
          <p:nvPr/>
        </p:nvSpPr>
        <p:spPr>
          <a:xfrm>
            <a:off x="8197900" y="230428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CSP nonce</a:t>
            </a:r>
          </a:p>
        </p:txBody>
      </p:sp>
      <p:sp>
        <p:nvSpPr>
          <p:cNvPr id="23" name="carte_d"/>
          <p:cNvSpPr txBox="1"/>
          <p:nvPr/>
        </p:nvSpPr>
        <p:spPr>
          <a:xfrm>
            <a:off x="8197900" y="259689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Durcir script-src en production</a:t>
            </a:r>
          </a:p>
        </p:txBody>
      </p:sp>
      <p:sp>
        <p:nvSpPr>
          <p:cNvPr id="24" name="carte"/>
          <p:cNvSpPr/>
          <p:nvPr/>
        </p:nvSpPr>
        <p:spPr>
          <a:xfrm>
            <a:off x="685800" y="404622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bo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" y="4192524"/>
            <a:ext cx="274320" cy="274320"/>
          </a:xfrm>
          <a:prstGeom prst="rect">
            <a:avLst/>
          </a:prstGeom>
        </p:spPr>
      </p:pic>
      <p:sp>
        <p:nvSpPr>
          <p:cNvPr id="26" name="carte_t"/>
          <p:cNvSpPr txBox="1"/>
          <p:nvPr/>
        </p:nvSpPr>
        <p:spPr>
          <a:xfrm>
            <a:off x="832104" y="452170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Observabilité LLM</a:t>
            </a:r>
          </a:p>
        </p:txBody>
      </p:sp>
      <p:sp>
        <p:nvSpPr>
          <p:cNvPr id="27" name="carte_d"/>
          <p:cNvSpPr txBox="1"/>
          <p:nvPr/>
        </p:nvSpPr>
        <p:spPr>
          <a:xfrm>
            <a:off x="832104" y="481431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Temps par agent, coûts, taux de rejet</a:t>
            </a:r>
          </a:p>
        </p:txBody>
      </p:sp>
      <p:sp>
        <p:nvSpPr>
          <p:cNvPr id="28" name="carte"/>
          <p:cNvSpPr/>
          <p:nvPr/>
        </p:nvSpPr>
        <p:spPr>
          <a:xfrm>
            <a:off x="4368698" y="404622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ecor"/>
          <p:cNvSpPr/>
          <p:nvPr/>
        </p:nvSpPr>
        <p:spPr>
          <a:xfrm>
            <a:off x="4478426" y="4046220"/>
            <a:ext cx="3234842" cy="27432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lay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5002" y="4192524"/>
            <a:ext cx="274320" cy="274320"/>
          </a:xfrm>
          <a:prstGeom prst="rect">
            <a:avLst/>
          </a:prstGeom>
        </p:spPr>
      </p:pic>
      <p:sp>
        <p:nvSpPr>
          <p:cNvPr id="31" name="carte_t"/>
          <p:cNvSpPr txBox="1"/>
          <p:nvPr/>
        </p:nvSpPr>
        <p:spPr>
          <a:xfrm>
            <a:off x="4515002" y="452170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Multi-modèles</a:t>
            </a:r>
          </a:p>
        </p:txBody>
      </p:sp>
      <p:sp>
        <p:nvSpPr>
          <p:cNvPr id="32" name="carte_d"/>
          <p:cNvSpPr txBox="1"/>
          <p:nvPr/>
        </p:nvSpPr>
        <p:spPr>
          <a:xfrm>
            <a:off x="4515002" y="481431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Router selon le besoin métier</a:t>
            </a:r>
          </a:p>
        </p:txBody>
      </p:sp>
      <p:sp>
        <p:nvSpPr>
          <p:cNvPr id="33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eadcrumb"/>
          <p:cNvSpPr txBox="1"/>
          <p:nvPr/>
        </p:nvSpPr>
        <p:spPr>
          <a:xfrm>
            <a:off x="685800" y="4572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spc="250" w="600">
                <a:solidFill>
                  <a:srgbClr val="8FC1F0"/>
                </a:solidFill>
                <a:latin typeface="Inter"/>
              </a:rPr>
              <a:t>04 · LA VALIDATION</a:t>
            </a:r>
          </a:p>
        </p:txBody>
      </p:sp>
      <p:sp>
        <p:nvSpPr>
          <p:cNvPr id="8" name="titre"/>
          <p:cNvSpPr txBox="1"/>
          <p:nvPr/>
        </p:nvSpPr>
        <p:spPr>
          <a:xfrm>
            <a:off x="685800" y="74980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w="800">
                <a:solidFill>
                  <a:srgbClr val="E6EDF7"/>
                </a:solidFill>
                <a:latin typeface="Inter"/>
              </a:rPr>
              <a:t>Un assistant RH agentique, sécurisé, prêt à l'industrialisation</a:t>
            </a:r>
          </a:p>
        </p:txBody>
      </p:sp>
      <p:pic>
        <p:nvPicPr>
          <p:cNvPr id="9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10" name="corps"/>
          <p:cNvSpPr txBox="1"/>
          <p:nvPr/>
        </p:nvSpPr>
        <p:spPr>
          <a:xfrm>
            <a:off x="685800" y="1920240"/>
            <a:ext cx="32918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 w="400">
                <a:solidFill>
                  <a:srgbClr val="93A0BF"/>
                </a:solidFill>
                <a:latin typeface="Inter"/>
              </a:rPr>
              <a:t>Backend hexagonal, pipeline Actor-Critic, RAG vectoriel 768d, frontend Next.js BFF, 90 tests verts, audits V5+V6 GO.</a:t>
            </a:r>
          </a:p>
        </p:txBody>
      </p:sp>
      <p:sp>
        <p:nvSpPr>
          <p:cNvPr id="11" name="carte"/>
          <p:cNvSpPr/>
          <p:nvPr/>
        </p:nvSpPr>
        <p:spPr>
          <a:xfrm>
            <a:off x="4343400" y="1920240"/>
            <a:ext cx="2225040" cy="1897380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cor"/>
          <p:cNvSpPr/>
          <p:nvPr/>
        </p:nvSpPr>
        <p:spPr>
          <a:xfrm>
            <a:off x="4453128" y="1920240"/>
            <a:ext cx="2005584" cy="27432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2066544"/>
            <a:ext cx="274320" cy="274320"/>
          </a:xfrm>
          <a:prstGeom prst="rect">
            <a:avLst/>
          </a:prstGeom>
        </p:spPr>
      </p:pic>
      <p:sp>
        <p:nvSpPr>
          <p:cNvPr id="14" name="carte_t"/>
          <p:cNvSpPr txBox="1"/>
          <p:nvPr/>
        </p:nvSpPr>
        <p:spPr>
          <a:xfrm>
            <a:off x="4489704" y="2395728"/>
            <a:ext cx="1932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Backend hexagonal</a:t>
            </a:r>
          </a:p>
        </p:txBody>
      </p:sp>
      <p:sp>
        <p:nvSpPr>
          <p:cNvPr id="15" name="carte_d"/>
          <p:cNvSpPr txBox="1"/>
          <p:nvPr/>
        </p:nvSpPr>
        <p:spPr>
          <a:xfrm>
            <a:off x="4489704" y="2688336"/>
            <a:ext cx="1932432" cy="1028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.NET 8 · Domain pur</a:t>
            </a:r>
          </a:p>
        </p:txBody>
      </p:sp>
      <p:sp>
        <p:nvSpPr>
          <p:cNvPr id="16" name="carte"/>
          <p:cNvSpPr/>
          <p:nvPr/>
        </p:nvSpPr>
        <p:spPr>
          <a:xfrm>
            <a:off x="6797040" y="1920240"/>
            <a:ext cx="2225040" cy="1897380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3344" y="2066544"/>
            <a:ext cx="274320" cy="274320"/>
          </a:xfrm>
          <a:prstGeom prst="rect">
            <a:avLst/>
          </a:prstGeom>
        </p:spPr>
      </p:pic>
      <p:sp>
        <p:nvSpPr>
          <p:cNvPr id="18" name="carte_t"/>
          <p:cNvSpPr txBox="1"/>
          <p:nvPr/>
        </p:nvSpPr>
        <p:spPr>
          <a:xfrm>
            <a:off x="6943344" y="2395728"/>
            <a:ext cx="1932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Pipeline 4 agents</a:t>
            </a:r>
          </a:p>
        </p:txBody>
      </p:sp>
      <p:sp>
        <p:nvSpPr>
          <p:cNvPr id="19" name="carte_d"/>
          <p:cNvSpPr txBox="1"/>
          <p:nvPr/>
        </p:nvSpPr>
        <p:spPr>
          <a:xfrm>
            <a:off x="6943344" y="2688336"/>
            <a:ext cx="1932432" cy="1028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Actor-Critic fiabilisé</a:t>
            </a:r>
          </a:p>
        </p:txBody>
      </p:sp>
      <p:sp>
        <p:nvSpPr>
          <p:cNvPr id="20" name="carte"/>
          <p:cNvSpPr/>
          <p:nvPr/>
        </p:nvSpPr>
        <p:spPr>
          <a:xfrm>
            <a:off x="9250680" y="1920240"/>
            <a:ext cx="2225040" cy="1897380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ecor"/>
          <p:cNvSpPr/>
          <p:nvPr/>
        </p:nvSpPr>
        <p:spPr>
          <a:xfrm>
            <a:off x="9360408" y="1920240"/>
            <a:ext cx="2005584" cy="27432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6984" y="2066544"/>
            <a:ext cx="274320" cy="274320"/>
          </a:xfrm>
          <a:prstGeom prst="rect">
            <a:avLst/>
          </a:prstGeom>
        </p:spPr>
      </p:pic>
      <p:sp>
        <p:nvSpPr>
          <p:cNvPr id="23" name="carte_t"/>
          <p:cNvSpPr txBox="1"/>
          <p:nvPr/>
        </p:nvSpPr>
        <p:spPr>
          <a:xfrm>
            <a:off x="9396984" y="2395728"/>
            <a:ext cx="1932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RAG vectoriel</a:t>
            </a:r>
          </a:p>
        </p:txBody>
      </p:sp>
      <p:sp>
        <p:nvSpPr>
          <p:cNvPr id="24" name="carte_d"/>
          <p:cNvSpPr txBox="1"/>
          <p:nvPr/>
        </p:nvSpPr>
        <p:spPr>
          <a:xfrm>
            <a:off x="9396984" y="2688336"/>
            <a:ext cx="1932432" cy="1028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vector(768) natif SQL 2025</a:t>
            </a:r>
          </a:p>
        </p:txBody>
      </p:sp>
      <p:sp>
        <p:nvSpPr>
          <p:cNvPr id="25" name="carte"/>
          <p:cNvSpPr/>
          <p:nvPr/>
        </p:nvSpPr>
        <p:spPr>
          <a:xfrm>
            <a:off x="4343400" y="4046220"/>
            <a:ext cx="2225040" cy="1897380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9704" y="4192524"/>
            <a:ext cx="274320" cy="274320"/>
          </a:xfrm>
          <a:prstGeom prst="rect">
            <a:avLst/>
          </a:prstGeom>
        </p:spPr>
      </p:pic>
      <p:sp>
        <p:nvSpPr>
          <p:cNvPr id="27" name="carte_t"/>
          <p:cNvSpPr txBox="1"/>
          <p:nvPr/>
        </p:nvSpPr>
        <p:spPr>
          <a:xfrm>
            <a:off x="4489704" y="4521708"/>
            <a:ext cx="19324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90/90 tests</a:t>
            </a:r>
          </a:p>
        </p:txBody>
      </p:sp>
      <p:sp>
        <p:nvSpPr>
          <p:cNvPr id="28" name="carte_d"/>
          <p:cNvSpPr txBox="1"/>
          <p:nvPr/>
        </p:nvSpPr>
        <p:spPr>
          <a:xfrm>
            <a:off x="4489704" y="4814316"/>
            <a:ext cx="1932432" cy="1028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audits V5 + V6 GO</a:t>
            </a:r>
          </a:p>
        </p:txBody>
      </p:sp>
      <p:sp>
        <p:nvSpPr>
          <p:cNvPr id="29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A0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r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re"/>
          <p:cNvSpPr txBox="1"/>
          <p:nvPr/>
        </p:nvSpPr>
        <p:spPr>
          <a:xfrm>
            <a:off x="1523847" y="2651760"/>
            <a:ext cx="9144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0" b="0" w="800">
                <a:solidFill>
                  <a:srgbClr val="E6EDF7"/>
                </a:solidFill>
                <a:latin typeface="Inter"/>
              </a:rPr>
              <a:t>Merci</a:t>
            </a:r>
          </a:p>
        </p:txBody>
      </p:sp>
      <p:sp>
        <p:nvSpPr>
          <p:cNvPr id="9" name="corps"/>
          <p:cNvSpPr txBox="1"/>
          <p:nvPr/>
        </p:nvSpPr>
        <p:spPr>
          <a:xfrm>
            <a:off x="1523847" y="39319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0" w="600">
                <a:solidFill>
                  <a:srgbClr val="8FC1F0"/>
                </a:solidFill>
                <a:latin typeface="Inter"/>
              </a:rPr>
              <a:t>Questions ?</a:t>
            </a:r>
          </a:p>
        </p:txBody>
      </p:sp>
      <p:pic>
        <p:nvPicPr>
          <p:cNvPr id="10" name="Picture 9" descr="ensa_white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767" y="4846320"/>
            <a:ext cx="4267200" cy="685800"/>
          </a:xfrm>
          <a:prstGeom prst="rect">
            <a:avLst/>
          </a:prstGeom>
        </p:spPr>
      </p:pic>
      <p:pic>
        <p:nvPicPr>
          <p:cNvPr id="11" name="Picture 10" descr="agirh_white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1758" y="4846320"/>
            <a:ext cx="1350168" cy="685800"/>
          </a:xfrm>
          <a:prstGeom prst="rect">
            <a:avLst/>
          </a:prstGeom>
        </p:spPr>
      </p:pic>
      <p:sp>
        <p:nvSpPr>
          <p:cNvPr id="12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eadcrumb"/>
          <p:cNvSpPr txBox="1"/>
          <p:nvPr/>
        </p:nvSpPr>
        <p:spPr>
          <a:xfrm>
            <a:off x="685800" y="4572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spc="250" w="600">
                <a:solidFill>
                  <a:srgbClr val="8FC1F0"/>
                </a:solidFill>
                <a:latin typeface="Inter"/>
              </a:rPr>
              <a:t>ANNEXES</a:t>
            </a:r>
          </a:p>
        </p:txBody>
      </p:sp>
      <p:sp>
        <p:nvSpPr>
          <p:cNvPr id="8" name="titre"/>
          <p:cNvSpPr txBox="1"/>
          <p:nvPr/>
        </p:nvSpPr>
        <p:spPr>
          <a:xfrm>
            <a:off x="685800" y="74980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w="800">
                <a:solidFill>
                  <a:srgbClr val="E6EDF7"/>
                </a:solidFill>
                <a:latin typeface="Inter"/>
              </a:rPr>
              <a:t>Annexe A — Modèle de données</a:t>
            </a:r>
          </a:p>
        </p:txBody>
      </p:sp>
      <p:pic>
        <p:nvPicPr>
          <p:cNvPr id="9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10" name="ent_0"/>
          <p:cNvSpPr/>
          <p:nvPr/>
        </p:nvSpPr>
        <p:spPr>
          <a:xfrm>
            <a:off x="685800" y="1920240"/>
            <a:ext cx="3337560" cy="868680"/>
          </a:xfrm>
          <a:prstGeom prst="roundRect">
            <a:avLst>
              <a:gd name="adj" fmla="val 10000"/>
            </a:avLst>
          </a:prstGeom>
          <a:solidFill>
            <a:srgbClr val="123680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rps"/>
          <p:cNvSpPr txBox="1"/>
          <p:nvPr/>
        </p:nvSpPr>
        <p:spPr>
          <a:xfrm>
            <a:off x="777240" y="2029968"/>
            <a:ext cx="11612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6EDF7"/>
                </a:solidFill>
                <a:latin typeface="Inter"/>
              </a:rPr>
              <a:t>Employee</a:t>
            </a:r>
          </a:p>
        </p:txBody>
      </p:sp>
      <p:sp>
        <p:nvSpPr>
          <p:cNvPr id="12" name="corps"/>
          <p:cNvSpPr txBox="1"/>
          <p:nvPr/>
        </p:nvSpPr>
        <p:spPr>
          <a:xfrm>
            <a:off x="777240" y="2304288"/>
            <a:ext cx="3054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E6EDF7"/>
                </a:solidFill>
                <a:latin typeface="Inter"/>
              </a:rPr>
              <a:t>rôles · hiérarchie · solde</a:t>
            </a:r>
          </a:p>
        </p:txBody>
      </p:sp>
      <p:sp>
        <p:nvSpPr>
          <p:cNvPr id="13" name="ent_1"/>
          <p:cNvSpPr/>
          <p:nvPr/>
        </p:nvSpPr>
        <p:spPr>
          <a:xfrm>
            <a:off x="4480560" y="1920240"/>
            <a:ext cx="3337560" cy="868680"/>
          </a:xfrm>
          <a:prstGeom prst="roundRect">
            <a:avLst>
              <a:gd name="adj" fmla="val 10000"/>
            </a:avLst>
          </a:prstGeom>
          <a:solidFill>
            <a:srgbClr val="16213F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rps"/>
          <p:cNvSpPr txBox="1"/>
          <p:nvPr/>
        </p:nvSpPr>
        <p:spPr>
          <a:xfrm>
            <a:off x="4572000" y="2029968"/>
            <a:ext cx="1581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6EDF7"/>
                </a:solidFill>
                <a:latin typeface="Inter"/>
              </a:rPr>
              <a:t>LeaveRequest</a:t>
            </a:r>
          </a:p>
        </p:txBody>
      </p:sp>
      <p:sp>
        <p:nvSpPr>
          <p:cNvPr id="15" name="corps"/>
          <p:cNvSpPr txBox="1"/>
          <p:nvPr/>
        </p:nvSpPr>
        <p:spPr>
          <a:xfrm>
            <a:off x="4572000" y="2304288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E6EDF7"/>
                </a:solidFill>
                <a:latin typeface="Inter"/>
              </a:rPr>
              <a:t>congés / CET · statuts</a:t>
            </a:r>
          </a:p>
        </p:txBody>
      </p:sp>
      <p:sp>
        <p:nvSpPr>
          <p:cNvPr id="16" name="ent_2"/>
          <p:cNvSpPr/>
          <p:nvPr/>
        </p:nvSpPr>
        <p:spPr>
          <a:xfrm>
            <a:off x="685800" y="3246120"/>
            <a:ext cx="3337560" cy="868680"/>
          </a:xfrm>
          <a:prstGeom prst="roundRect">
            <a:avLst>
              <a:gd name="adj" fmla="val 10000"/>
            </a:avLst>
          </a:prstGeom>
          <a:solidFill>
            <a:srgbClr val="B55927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rps"/>
          <p:cNvSpPr txBox="1"/>
          <p:nvPr/>
        </p:nvSpPr>
        <p:spPr>
          <a:xfrm>
            <a:off x="777240" y="335584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6EDF7"/>
                </a:solidFill>
                <a:latin typeface="Inter"/>
              </a:rPr>
              <a:t>SalaryAdvanceRequest</a:t>
            </a:r>
          </a:p>
        </p:txBody>
      </p:sp>
      <p:sp>
        <p:nvSpPr>
          <p:cNvPr id="18" name="corps"/>
          <p:cNvSpPr txBox="1"/>
          <p:nvPr/>
        </p:nvSpPr>
        <p:spPr>
          <a:xfrm>
            <a:off x="777240" y="3630168"/>
            <a:ext cx="28437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E6EDF7"/>
                </a:solidFill>
                <a:latin typeface="Inter"/>
              </a:rPr>
              <a:t>plafond 50 % · 1 Pending</a:t>
            </a:r>
          </a:p>
        </p:txBody>
      </p:sp>
      <p:sp>
        <p:nvSpPr>
          <p:cNvPr id="19" name="ent_3"/>
          <p:cNvSpPr/>
          <p:nvPr/>
        </p:nvSpPr>
        <p:spPr>
          <a:xfrm>
            <a:off x="4480560" y="3246120"/>
            <a:ext cx="3337560" cy="868680"/>
          </a:xfrm>
          <a:prstGeom prst="roundRect">
            <a:avLst>
              <a:gd name="adj" fmla="val 10000"/>
            </a:avLst>
          </a:prstGeom>
          <a:solidFill>
            <a:srgbClr val="2C4C90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rps"/>
          <p:cNvSpPr txBox="1"/>
          <p:nvPr/>
        </p:nvSpPr>
        <p:spPr>
          <a:xfrm>
            <a:off x="4572000" y="3355848"/>
            <a:ext cx="21076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w="700">
                <a:solidFill>
                  <a:srgbClr val="E6EDF7"/>
                </a:solidFill>
                <a:latin typeface="Inter"/>
              </a:rPr>
              <a:t>KnowledgeDocument</a:t>
            </a:r>
          </a:p>
        </p:txBody>
      </p:sp>
      <p:sp>
        <p:nvSpPr>
          <p:cNvPr id="21" name="corps"/>
          <p:cNvSpPr txBox="1"/>
          <p:nvPr/>
        </p:nvSpPr>
        <p:spPr>
          <a:xfrm>
            <a:off x="4572000" y="3630168"/>
            <a:ext cx="21076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E6EDF7"/>
                </a:solidFill>
                <a:latin typeface="Inter"/>
              </a:rPr>
              <a:t>vector(768) · RAG</a:t>
            </a:r>
          </a:p>
        </p:txBody>
      </p:sp>
      <p:sp>
        <p:nvSpPr>
          <p:cNvPr id="22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eadcrumb"/>
          <p:cNvSpPr txBox="1"/>
          <p:nvPr/>
        </p:nvSpPr>
        <p:spPr>
          <a:xfrm>
            <a:off x="685800" y="4572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spc="250" w="600">
                <a:solidFill>
                  <a:srgbClr val="8FC1F0"/>
                </a:solidFill>
                <a:latin typeface="Inter"/>
              </a:rPr>
              <a:t>ANNEXES</a:t>
            </a:r>
          </a:p>
        </p:txBody>
      </p:sp>
      <p:sp>
        <p:nvSpPr>
          <p:cNvPr id="8" name="titre"/>
          <p:cNvSpPr txBox="1"/>
          <p:nvPr/>
        </p:nvSpPr>
        <p:spPr>
          <a:xfrm>
            <a:off x="685800" y="74980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w="800">
                <a:solidFill>
                  <a:srgbClr val="E6EDF7"/>
                </a:solidFill>
                <a:latin typeface="Inter"/>
              </a:rPr>
              <a:t>Annexe B — TOCTOU en détail</a:t>
            </a:r>
          </a:p>
        </p:txBody>
      </p:sp>
      <p:pic>
        <p:nvPicPr>
          <p:cNvPr id="9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10" name="code"/>
          <p:cNvSpPr/>
          <p:nvPr/>
        </p:nvSpPr>
        <p:spPr>
          <a:xfrm>
            <a:off x="685800" y="1920240"/>
            <a:ext cx="7132320" cy="196596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de_header"/>
          <p:cNvSpPr/>
          <p:nvPr/>
        </p:nvSpPr>
        <p:spPr>
          <a:xfrm>
            <a:off x="685800" y="1920240"/>
            <a:ext cx="7132320" cy="457200"/>
          </a:xfrm>
          <a:prstGeom prst="roundRect">
            <a:avLst>
              <a:gd name="adj" fmla="val 10000"/>
            </a:avLst>
          </a:prstGeom>
          <a:solidFill>
            <a:srgbClr val="212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ecor"/>
          <p:cNvSpPr/>
          <p:nvPr/>
        </p:nvSpPr>
        <p:spPr>
          <a:xfrm>
            <a:off x="1005840" y="2075688"/>
            <a:ext cx="118872" cy="118872"/>
          </a:xfrm>
          <a:prstGeom prst="ellipse">
            <a:avLst/>
          </a:prstGeom>
          <a:solidFill>
            <a:srgbClr val="B55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cor"/>
          <p:cNvSpPr/>
          <p:nvPr/>
        </p:nvSpPr>
        <p:spPr>
          <a:xfrm>
            <a:off x="1289304" y="2075688"/>
            <a:ext cx="118872" cy="118872"/>
          </a:xfrm>
          <a:prstGeom prst="ellipse">
            <a:avLst/>
          </a:prstGeom>
          <a:solidFill>
            <a:srgbClr val="659E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ecor"/>
          <p:cNvSpPr/>
          <p:nvPr/>
        </p:nvSpPr>
        <p:spPr>
          <a:xfrm>
            <a:off x="1572768" y="2075688"/>
            <a:ext cx="118872" cy="118872"/>
          </a:xfrm>
          <a:prstGeom prst="ellipse">
            <a:avLst/>
          </a:prstGeom>
          <a:solidFill>
            <a:srgbClr val="5B6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kicker"/>
          <p:cNvSpPr txBox="1"/>
          <p:nvPr/>
        </p:nvSpPr>
        <p:spPr>
          <a:xfrm>
            <a:off x="2057400" y="2029968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93A0BF"/>
                </a:solidFill>
                <a:latin typeface="JetBrains Mono"/>
              </a:rPr>
              <a:t>Migration 20260731182015.sql</a:t>
            </a:r>
          </a:p>
        </p:txBody>
      </p:sp>
      <p:sp>
        <p:nvSpPr>
          <p:cNvPr id="16" name="code_body"/>
          <p:cNvSpPr/>
          <p:nvPr/>
        </p:nvSpPr>
        <p:spPr>
          <a:xfrm>
            <a:off x="704088" y="2377440"/>
            <a:ext cx="7095744" cy="1463040"/>
          </a:xfrm>
          <a:prstGeom prst="roundRect">
            <a:avLst>
              <a:gd name="adj" fmla="val 3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128016"/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C792EA"/>
                </a:solidFill>
                <a:latin typeface="JetBrains Mono"/>
              </a:rPr>
              <a:t>CREATE</a:t>
            </a:r>
            <a:r>
              <a:rPr sz="1600" b="0">
                <a:solidFill>
                  <a:srgbClr val="C792EA"/>
                </a:solidFill>
                <a:latin typeface="JetBrains Mono"/>
              </a:rPr>
              <a:t>UNIQUE</a:t>
            </a:r>
            <a:r>
              <a:rPr sz="1600" b="0">
                <a:solidFill>
                  <a:srgbClr val="C792EA"/>
                </a:solidFill>
                <a:latin typeface="JetBrains Mono"/>
              </a:rPr>
              <a:t>INDEX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IX_SalaryAdvance_Pending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C792EA"/>
                </a:solidFill>
                <a:latin typeface="JetBrains Mono"/>
              </a:rPr>
              <a:t>ON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SalaryAdvanceRequest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(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EmployeeId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C792EA"/>
                </a:solidFill>
                <a:latin typeface="JetBrains Mono"/>
              </a:rPr>
              <a:t>WHERE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Status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=</a:t>
            </a:r>
            <a:r>
              <a:rPr sz="1600" b="0">
                <a:solidFill>
                  <a:srgbClr val="89DDFF"/>
                </a:solidFill>
                <a:latin typeface="JetBrains Mono"/>
              </a:rPr>
              <a:t>'Pending'</a:t>
            </a:r>
            <a:r>
              <a:rPr sz="1600" b="0">
                <a:solidFill>
                  <a:srgbClr val="EEFFFF"/>
                </a:solidFill>
                <a:latin typeface="JetBrains Mono"/>
              </a:rPr>
              <a:t>;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5B6B8C"/>
                </a:solidFill>
                <a:latin typeface="JetBrains Mono"/>
              </a:rPr>
              <a:t>-- 2e requête simultanée → rejet</a:t>
            </a:r>
          </a:p>
        </p:txBody>
      </p:sp>
      <p:sp>
        <p:nvSpPr>
          <p:cNvPr id="17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eadcrumb"/>
          <p:cNvSpPr txBox="1"/>
          <p:nvPr/>
        </p:nvSpPr>
        <p:spPr>
          <a:xfrm>
            <a:off x="685800" y="4572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spc="250" w="600">
                <a:solidFill>
                  <a:srgbClr val="8FC1F0"/>
                </a:solidFill>
                <a:latin typeface="Inter"/>
              </a:rPr>
              <a:t>ANNEXES</a:t>
            </a:r>
          </a:p>
        </p:txBody>
      </p:sp>
      <p:sp>
        <p:nvSpPr>
          <p:cNvPr id="8" name="titre"/>
          <p:cNvSpPr txBox="1"/>
          <p:nvPr/>
        </p:nvSpPr>
        <p:spPr>
          <a:xfrm>
            <a:off x="685800" y="74980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w="800">
                <a:solidFill>
                  <a:srgbClr val="E6EDF7"/>
                </a:solidFill>
                <a:latin typeface="Inter"/>
              </a:rPr>
              <a:t>Annexe C — Inventaire des tests</a:t>
            </a:r>
          </a:p>
        </p:txBody>
      </p:sp>
      <p:pic>
        <p:nvPicPr>
          <p:cNvPr id="9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10" name="carte"/>
          <p:cNvSpPr/>
          <p:nvPr/>
        </p:nvSpPr>
        <p:spPr>
          <a:xfrm>
            <a:off x="685800" y="182880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cor"/>
          <p:cNvSpPr/>
          <p:nvPr/>
        </p:nvSpPr>
        <p:spPr>
          <a:xfrm>
            <a:off x="795528" y="1828800"/>
            <a:ext cx="3234842" cy="27432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975104"/>
            <a:ext cx="274320" cy="274320"/>
          </a:xfrm>
          <a:prstGeom prst="rect">
            <a:avLst/>
          </a:prstGeom>
        </p:spPr>
      </p:pic>
      <p:sp>
        <p:nvSpPr>
          <p:cNvPr id="13" name="carte_t"/>
          <p:cNvSpPr txBox="1"/>
          <p:nvPr/>
        </p:nvSpPr>
        <p:spPr>
          <a:xfrm>
            <a:off x="832104" y="230428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Avance</a:t>
            </a:r>
          </a:p>
        </p:txBody>
      </p:sp>
      <p:sp>
        <p:nvSpPr>
          <p:cNvPr id="14" name="carte_d"/>
          <p:cNvSpPr txBox="1"/>
          <p:nvPr/>
        </p:nvSpPr>
        <p:spPr>
          <a:xfrm>
            <a:off x="832104" y="259689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16 tests · cap + TOCTOU</a:t>
            </a:r>
          </a:p>
        </p:txBody>
      </p:sp>
      <p:sp>
        <p:nvSpPr>
          <p:cNvPr id="15" name="carte"/>
          <p:cNvSpPr/>
          <p:nvPr/>
        </p:nvSpPr>
        <p:spPr>
          <a:xfrm>
            <a:off x="4368698" y="182880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002" y="1975104"/>
            <a:ext cx="274320" cy="274320"/>
          </a:xfrm>
          <a:prstGeom prst="rect">
            <a:avLst/>
          </a:prstGeom>
        </p:spPr>
      </p:pic>
      <p:sp>
        <p:nvSpPr>
          <p:cNvPr id="17" name="carte_t"/>
          <p:cNvSpPr txBox="1"/>
          <p:nvPr/>
        </p:nvSpPr>
        <p:spPr>
          <a:xfrm>
            <a:off x="4515002" y="230428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Checker</a:t>
            </a:r>
          </a:p>
        </p:txBody>
      </p:sp>
      <p:sp>
        <p:nvSpPr>
          <p:cNvPr id="18" name="carte_d"/>
          <p:cNvSpPr txBox="1"/>
          <p:nvPr/>
        </p:nvSpPr>
        <p:spPr>
          <a:xfrm>
            <a:off x="4515002" y="259689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11 fail-closed</a:t>
            </a:r>
          </a:p>
        </p:txBody>
      </p:sp>
      <p:sp>
        <p:nvSpPr>
          <p:cNvPr id="19" name="carte"/>
          <p:cNvSpPr/>
          <p:nvPr/>
        </p:nvSpPr>
        <p:spPr>
          <a:xfrm>
            <a:off x="8051596" y="182880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ecor"/>
          <p:cNvSpPr/>
          <p:nvPr/>
        </p:nvSpPr>
        <p:spPr>
          <a:xfrm>
            <a:off x="8161324" y="1828800"/>
            <a:ext cx="3234842" cy="27432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900" y="1975104"/>
            <a:ext cx="274320" cy="274320"/>
          </a:xfrm>
          <a:prstGeom prst="rect">
            <a:avLst/>
          </a:prstGeom>
        </p:spPr>
      </p:pic>
      <p:sp>
        <p:nvSpPr>
          <p:cNvPr id="22" name="carte_t"/>
          <p:cNvSpPr txBox="1"/>
          <p:nvPr/>
        </p:nvSpPr>
        <p:spPr>
          <a:xfrm>
            <a:off x="8197900" y="230428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Dispatcher</a:t>
            </a:r>
          </a:p>
        </p:txBody>
      </p:sp>
      <p:sp>
        <p:nvSpPr>
          <p:cNvPr id="23" name="carte_d"/>
          <p:cNvSpPr txBox="1"/>
          <p:nvPr/>
        </p:nvSpPr>
        <p:spPr>
          <a:xfrm>
            <a:off x="8197900" y="259689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11 RBAC + scope</a:t>
            </a:r>
          </a:p>
        </p:txBody>
      </p:sp>
      <p:sp>
        <p:nvSpPr>
          <p:cNvPr id="24" name="carte"/>
          <p:cNvSpPr/>
          <p:nvPr/>
        </p:nvSpPr>
        <p:spPr>
          <a:xfrm>
            <a:off x="685800" y="404622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4192524"/>
            <a:ext cx="274320" cy="274320"/>
          </a:xfrm>
          <a:prstGeom prst="rect">
            <a:avLst/>
          </a:prstGeom>
        </p:spPr>
      </p:pic>
      <p:sp>
        <p:nvSpPr>
          <p:cNvPr id="26" name="carte_t"/>
          <p:cNvSpPr txBox="1"/>
          <p:nvPr/>
        </p:nvSpPr>
        <p:spPr>
          <a:xfrm>
            <a:off x="832104" y="452170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Conversations</a:t>
            </a:r>
          </a:p>
        </p:txBody>
      </p:sp>
      <p:sp>
        <p:nvSpPr>
          <p:cNvPr id="27" name="carte_d"/>
          <p:cNvSpPr txBox="1"/>
          <p:nvPr/>
        </p:nvSpPr>
        <p:spPr>
          <a:xfrm>
            <a:off x="832104" y="481431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13 · limites 3/5/7</a:t>
            </a:r>
          </a:p>
        </p:txBody>
      </p:sp>
      <p:sp>
        <p:nvSpPr>
          <p:cNvPr id="28" name="carte"/>
          <p:cNvSpPr/>
          <p:nvPr/>
        </p:nvSpPr>
        <p:spPr>
          <a:xfrm>
            <a:off x="4368698" y="404622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ecor"/>
          <p:cNvSpPr/>
          <p:nvPr/>
        </p:nvSpPr>
        <p:spPr>
          <a:xfrm>
            <a:off x="4478426" y="4046220"/>
            <a:ext cx="3234842" cy="27432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002" y="4192524"/>
            <a:ext cx="274320" cy="274320"/>
          </a:xfrm>
          <a:prstGeom prst="rect">
            <a:avLst/>
          </a:prstGeom>
        </p:spPr>
      </p:pic>
      <p:sp>
        <p:nvSpPr>
          <p:cNvPr id="31" name="carte_t"/>
          <p:cNvSpPr txBox="1"/>
          <p:nvPr/>
        </p:nvSpPr>
        <p:spPr>
          <a:xfrm>
            <a:off x="4515002" y="452170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Salutations</a:t>
            </a:r>
          </a:p>
        </p:txBody>
      </p:sp>
      <p:sp>
        <p:nvSpPr>
          <p:cNvPr id="32" name="carte_d"/>
          <p:cNvSpPr txBox="1"/>
          <p:nvPr/>
        </p:nvSpPr>
        <p:spPr>
          <a:xfrm>
            <a:off x="4515002" y="481431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5 · pré-LLM</a:t>
            </a:r>
          </a:p>
        </p:txBody>
      </p:sp>
      <p:sp>
        <p:nvSpPr>
          <p:cNvPr id="33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eadcrumb"/>
          <p:cNvSpPr txBox="1"/>
          <p:nvPr/>
        </p:nvSpPr>
        <p:spPr>
          <a:xfrm>
            <a:off x="685800" y="4572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spc="250" w="600">
                <a:solidFill>
                  <a:srgbClr val="8FC1F0"/>
                </a:solidFill>
                <a:latin typeface="Inter"/>
              </a:rPr>
              <a:t>ANNEXES</a:t>
            </a:r>
          </a:p>
        </p:txBody>
      </p:sp>
      <p:sp>
        <p:nvSpPr>
          <p:cNvPr id="8" name="titre"/>
          <p:cNvSpPr txBox="1"/>
          <p:nvPr/>
        </p:nvSpPr>
        <p:spPr>
          <a:xfrm>
            <a:off x="685800" y="74980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w="800">
                <a:solidFill>
                  <a:srgbClr val="E6EDF7"/>
                </a:solidFill>
                <a:latin typeface="Inter"/>
              </a:rPr>
              <a:t>Annexe D — Migrations EF Core</a:t>
            </a:r>
          </a:p>
        </p:txBody>
      </p:sp>
      <p:pic>
        <p:nvPicPr>
          <p:cNvPr id="9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10" name="carte"/>
          <p:cNvSpPr/>
          <p:nvPr/>
        </p:nvSpPr>
        <p:spPr>
          <a:xfrm>
            <a:off x="685800" y="182880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cor"/>
          <p:cNvSpPr/>
          <p:nvPr/>
        </p:nvSpPr>
        <p:spPr>
          <a:xfrm>
            <a:off x="795528" y="1828800"/>
            <a:ext cx="3234842" cy="27432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975104"/>
            <a:ext cx="274320" cy="274320"/>
          </a:xfrm>
          <a:prstGeom prst="rect">
            <a:avLst/>
          </a:prstGeom>
        </p:spPr>
      </p:pic>
      <p:sp>
        <p:nvSpPr>
          <p:cNvPr id="13" name="carte_t"/>
          <p:cNvSpPr txBox="1"/>
          <p:nvPr/>
        </p:nvSpPr>
        <p:spPr>
          <a:xfrm>
            <a:off x="832104" y="230428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InitialCreate</a:t>
            </a:r>
          </a:p>
        </p:txBody>
      </p:sp>
      <p:sp>
        <p:nvSpPr>
          <p:cNvPr id="14" name="carte_d"/>
          <p:cNvSpPr txBox="1"/>
          <p:nvPr/>
        </p:nvSpPr>
        <p:spPr>
          <a:xfrm>
            <a:off x="832104" y="259689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Entités de base</a:t>
            </a:r>
          </a:p>
        </p:txBody>
      </p:sp>
      <p:sp>
        <p:nvSpPr>
          <p:cNvPr id="15" name="carte"/>
          <p:cNvSpPr/>
          <p:nvPr/>
        </p:nvSpPr>
        <p:spPr>
          <a:xfrm>
            <a:off x="4368698" y="182880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002" y="1975104"/>
            <a:ext cx="274320" cy="274320"/>
          </a:xfrm>
          <a:prstGeom prst="rect">
            <a:avLst/>
          </a:prstGeom>
        </p:spPr>
      </p:pic>
      <p:sp>
        <p:nvSpPr>
          <p:cNvPr id="17" name="carte_t"/>
          <p:cNvSpPr txBox="1"/>
          <p:nvPr/>
        </p:nvSpPr>
        <p:spPr>
          <a:xfrm>
            <a:off x="4515002" y="230428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Payroll+Avance</a:t>
            </a:r>
          </a:p>
        </p:txBody>
      </p:sp>
      <p:sp>
        <p:nvSpPr>
          <p:cNvPr id="18" name="carte_d"/>
          <p:cNvSpPr txBox="1"/>
          <p:nvPr/>
        </p:nvSpPr>
        <p:spPr>
          <a:xfrm>
            <a:off x="4515002" y="259689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vector(768)</a:t>
            </a:r>
          </a:p>
        </p:txBody>
      </p:sp>
      <p:sp>
        <p:nvSpPr>
          <p:cNvPr id="19" name="carte"/>
          <p:cNvSpPr/>
          <p:nvPr/>
        </p:nvSpPr>
        <p:spPr>
          <a:xfrm>
            <a:off x="8051596" y="182880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ecor"/>
          <p:cNvSpPr/>
          <p:nvPr/>
        </p:nvSpPr>
        <p:spPr>
          <a:xfrm>
            <a:off x="8161324" y="1828800"/>
            <a:ext cx="3234842" cy="27432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900" y="1975104"/>
            <a:ext cx="274320" cy="274320"/>
          </a:xfrm>
          <a:prstGeom prst="rect">
            <a:avLst/>
          </a:prstGeom>
        </p:spPr>
      </p:pic>
      <p:sp>
        <p:nvSpPr>
          <p:cNvPr id="22" name="carte_t"/>
          <p:cNvSpPr txBox="1"/>
          <p:nvPr/>
        </p:nvSpPr>
        <p:spPr>
          <a:xfrm>
            <a:off x="8197900" y="230428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Conversations</a:t>
            </a:r>
          </a:p>
        </p:txBody>
      </p:sp>
      <p:sp>
        <p:nvSpPr>
          <p:cNvPr id="23" name="carte_d"/>
          <p:cNvSpPr txBox="1"/>
          <p:nvPr/>
        </p:nvSpPr>
        <p:spPr>
          <a:xfrm>
            <a:off x="8197900" y="259689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Historique chat</a:t>
            </a:r>
          </a:p>
        </p:txBody>
      </p:sp>
      <p:sp>
        <p:nvSpPr>
          <p:cNvPr id="24" name="carte"/>
          <p:cNvSpPr/>
          <p:nvPr/>
        </p:nvSpPr>
        <p:spPr>
          <a:xfrm>
            <a:off x="685800" y="404622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4192524"/>
            <a:ext cx="274320" cy="274320"/>
          </a:xfrm>
          <a:prstGeom prst="rect">
            <a:avLst/>
          </a:prstGeom>
        </p:spPr>
      </p:pic>
      <p:sp>
        <p:nvSpPr>
          <p:cNvPr id="26" name="carte_t"/>
          <p:cNvSpPr txBox="1"/>
          <p:nvPr/>
        </p:nvSpPr>
        <p:spPr>
          <a:xfrm>
            <a:off x="832104" y="452170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UniquePending</a:t>
            </a:r>
          </a:p>
        </p:txBody>
      </p:sp>
      <p:sp>
        <p:nvSpPr>
          <p:cNvPr id="27" name="carte_d"/>
          <p:cNvSpPr txBox="1"/>
          <p:nvPr/>
        </p:nvSpPr>
        <p:spPr>
          <a:xfrm>
            <a:off x="832104" y="481431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Index filtré TOCTOU</a:t>
            </a:r>
          </a:p>
        </p:txBody>
      </p:sp>
      <p:sp>
        <p:nvSpPr>
          <p:cNvPr id="28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eadcrumb"/>
          <p:cNvSpPr txBox="1"/>
          <p:nvPr/>
        </p:nvSpPr>
        <p:spPr>
          <a:xfrm>
            <a:off x="685800" y="4572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spc="250" w="600">
                <a:solidFill>
                  <a:srgbClr val="8FC1F0"/>
                </a:solidFill>
                <a:latin typeface="Inter"/>
              </a:rPr>
              <a:t>ANNEXES</a:t>
            </a:r>
          </a:p>
        </p:txBody>
      </p:sp>
      <p:sp>
        <p:nvSpPr>
          <p:cNvPr id="8" name="titre"/>
          <p:cNvSpPr txBox="1"/>
          <p:nvPr/>
        </p:nvSpPr>
        <p:spPr>
          <a:xfrm>
            <a:off x="685800" y="74980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w="800">
                <a:solidFill>
                  <a:srgbClr val="E6EDF7"/>
                </a:solidFill>
                <a:latin typeface="Inter"/>
              </a:rPr>
              <a:t>Annexe E — Résilience (Polly)</a:t>
            </a:r>
          </a:p>
        </p:txBody>
      </p:sp>
      <p:pic>
        <p:nvPicPr>
          <p:cNvPr id="9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10" name="carte"/>
          <p:cNvSpPr/>
          <p:nvPr/>
        </p:nvSpPr>
        <p:spPr>
          <a:xfrm>
            <a:off x="685800" y="182880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cor"/>
          <p:cNvSpPr/>
          <p:nvPr/>
        </p:nvSpPr>
        <p:spPr>
          <a:xfrm>
            <a:off x="795528" y="1828800"/>
            <a:ext cx="3234842" cy="27432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975104"/>
            <a:ext cx="274320" cy="274320"/>
          </a:xfrm>
          <a:prstGeom prst="rect">
            <a:avLst/>
          </a:prstGeom>
        </p:spPr>
      </p:pic>
      <p:sp>
        <p:nvSpPr>
          <p:cNvPr id="13" name="carte_t"/>
          <p:cNvSpPr txBox="1"/>
          <p:nvPr/>
        </p:nvSpPr>
        <p:spPr>
          <a:xfrm>
            <a:off x="832104" y="230428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Profiler</a:t>
            </a:r>
          </a:p>
        </p:txBody>
      </p:sp>
      <p:sp>
        <p:nvSpPr>
          <p:cNvPr id="14" name="carte_d"/>
          <p:cNvSpPr txBox="1"/>
          <p:nvPr/>
        </p:nvSpPr>
        <p:spPr>
          <a:xfrm>
            <a:off x="832104" y="259689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300 s · retry 3</a:t>
            </a:r>
          </a:p>
        </p:txBody>
      </p:sp>
      <p:sp>
        <p:nvSpPr>
          <p:cNvPr id="15" name="carte"/>
          <p:cNvSpPr/>
          <p:nvPr/>
        </p:nvSpPr>
        <p:spPr>
          <a:xfrm>
            <a:off x="4368698" y="182880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002" y="1975104"/>
            <a:ext cx="274320" cy="274320"/>
          </a:xfrm>
          <a:prstGeom prst="rect">
            <a:avLst/>
          </a:prstGeom>
        </p:spPr>
      </p:pic>
      <p:sp>
        <p:nvSpPr>
          <p:cNvPr id="17" name="carte_t"/>
          <p:cNvSpPr txBox="1"/>
          <p:nvPr/>
        </p:nvSpPr>
        <p:spPr>
          <a:xfrm>
            <a:off x="4515002" y="230428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Synthèse</a:t>
            </a:r>
          </a:p>
        </p:txBody>
      </p:sp>
      <p:sp>
        <p:nvSpPr>
          <p:cNvPr id="18" name="carte_d"/>
          <p:cNvSpPr txBox="1"/>
          <p:nvPr/>
        </p:nvSpPr>
        <p:spPr>
          <a:xfrm>
            <a:off x="4515002" y="259689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120 s</a:t>
            </a:r>
          </a:p>
        </p:txBody>
      </p:sp>
      <p:sp>
        <p:nvSpPr>
          <p:cNvPr id="19" name="carte"/>
          <p:cNvSpPr/>
          <p:nvPr/>
        </p:nvSpPr>
        <p:spPr>
          <a:xfrm>
            <a:off x="8051596" y="182880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ecor"/>
          <p:cNvSpPr/>
          <p:nvPr/>
        </p:nvSpPr>
        <p:spPr>
          <a:xfrm>
            <a:off x="8161324" y="1828800"/>
            <a:ext cx="3234842" cy="27432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900" y="1975104"/>
            <a:ext cx="274320" cy="274320"/>
          </a:xfrm>
          <a:prstGeom prst="rect">
            <a:avLst/>
          </a:prstGeom>
        </p:spPr>
      </p:pic>
      <p:sp>
        <p:nvSpPr>
          <p:cNvPr id="22" name="carte_t"/>
          <p:cNvSpPr txBox="1"/>
          <p:nvPr/>
        </p:nvSpPr>
        <p:spPr>
          <a:xfrm>
            <a:off x="8197900" y="230428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Checker</a:t>
            </a:r>
          </a:p>
        </p:txBody>
      </p:sp>
      <p:sp>
        <p:nvSpPr>
          <p:cNvPr id="23" name="carte_d"/>
          <p:cNvSpPr txBox="1"/>
          <p:nvPr/>
        </p:nvSpPr>
        <p:spPr>
          <a:xfrm>
            <a:off x="8197900" y="259689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120 s</a:t>
            </a:r>
          </a:p>
        </p:txBody>
      </p:sp>
      <p:sp>
        <p:nvSpPr>
          <p:cNvPr id="24" name="carte"/>
          <p:cNvSpPr/>
          <p:nvPr/>
        </p:nvSpPr>
        <p:spPr>
          <a:xfrm>
            <a:off x="685800" y="404622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4192524"/>
            <a:ext cx="274320" cy="274320"/>
          </a:xfrm>
          <a:prstGeom prst="rect">
            <a:avLst/>
          </a:prstGeom>
        </p:spPr>
      </p:pic>
      <p:sp>
        <p:nvSpPr>
          <p:cNvPr id="26" name="carte_t"/>
          <p:cNvSpPr txBox="1"/>
          <p:nvPr/>
        </p:nvSpPr>
        <p:spPr>
          <a:xfrm>
            <a:off x="832104" y="452170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Embedding</a:t>
            </a:r>
          </a:p>
        </p:txBody>
      </p:sp>
      <p:sp>
        <p:nvSpPr>
          <p:cNvPr id="27" name="carte_d"/>
          <p:cNvSpPr txBox="1"/>
          <p:nvPr/>
        </p:nvSpPr>
        <p:spPr>
          <a:xfrm>
            <a:off x="832104" y="481431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180 s · cancellation jamais rejouée</a:t>
            </a:r>
          </a:p>
        </p:txBody>
      </p:sp>
      <p:sp>
        <p:nvSpPr>
          <p:cNvPr id="28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"/>
          <p:cNvSpPr/>
          <p:nvPr/>
        </p:nvSpPr>
        <p:spPr>
          <a:xfrm>
            <a:off x="0" y="0"/>
            <a:ext cx="13" cy="7"/>
          </a:xfrm>
          <a:prstGeom prst="rect">
            <a:avLst/>
          </a:prstGeom>
          <a:solidFill>
            <a:srgbClr val="0B1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"/>
          <p:cNvSpPr/>
          <p:nvPr/>
        </p:nvSpPr>
        <p:spPr>
          <a:xfrm>
            <a:off x="-1371600" y="-1097280"/>
            <a:ext cx="5943600" cy="5943600"/>
          </a:xfrm>
          <a:prstGeom prst="ellipse">
            <a:avLst/>
          </a:prstGeom>
          <a:solidFill>
            <a:srgbClr val="12368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2C4C9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r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659ED4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r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B55927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readcrumb"/>
          <p:cNvSpPr txBox="1"/>
          <p:nvPr/>
        </p:nvSpPr>
        <p:spPr>
          <a:xfrm>
            <a:off x="685800" y="4572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spc="250" w="600">
                <a:solidFill>
                  <a:srgbClr val="8FC1F0"/>
                </a:solidFill>
                <a:latin typeface="Inter"/>
              </a:rPr>
              <a:t>ANNEXES</a:t>
            </a:r>
          </a:p>
        </p:txBody>
      </p:sp>
      <p:sp>
        <p:nvSpPr>
          <p:cNvPr id="8" name="titre"/>
          <p:cNvSpPr txBox="1"/>
          <p:nvPr/>
        </p:nvSpPr>
        <p:spPr>
          <a:xfrm>
            <a:off x="685800" y="74980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 b="0" w="800">
                <a:solidFill>
                  <a:srgbClr val="E6EDF7"/>
                </a:solidFill>
                <a:latin typeface="Inter"/>
              </a:rPr>
              <a:t>Annexe F — Événements SSE</a:t>
            </a:r>
          </a:p>
        </p:txBody>
      </p:sp>
      <p:pic>
        <p:nvPicPr>
          <p:cNvPr id="9" name="decor" descr="agirh_white_rgba.png"/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685800" y="5861304"/>
            <a:ext cx="612076" cy="310896"/>
          </a:xfrm>
          <a:prstGeom prst="rect">
            <a:avLst/>
          </a:prstGeom>
        </p:spPr>
      </p:pic>
      <p:sp>
        <p:nvSpPr>
          <p:cNvPr id="10" name="carte"/>
          <p:cNvSpPr/>
          <p:nvPr/>
        </p:nvSpPr>
        <p:spPr>
          <a:xfrm>
            <a:off x="685800" y="182880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cor"/>
          <p:cNvSpPr/>
          <p:nvPr/>
        </p:nvSpPr>
        <p:spPr>
          <a:xfrm>
            <a:off x="795528" y="1828800"/>
            <a:ext cx="3234842" cy="27432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975104"/>
            <a:ext cx="274320" cy="274320"/>
          </a:xfrm>
          <a:prstGeom prst="rect">
            <a:avLst/>
          </a:prstGeom>
        </p:spPr>
      </p:pic>
      <p:sp>
        <p:nvSpPr>
          <p:cNvPr id="13" name="carte_t"/>
          <p:cNvSpPr txBox="1"/>
          <p:nvPr/>
        </p:nvSpPr>
        <p:spPr>
          <a:xfrm>
            <a:off x="832104" y="230428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conversation</a:t>
            </a:r>
          </a:p>
        </p:txBody>
      </p:sp>
      <p:sp>
        <p:nvSpPr>
          <p:cNvPr id="14" name="carte_d"/>
          <p:cNvSpPr txBox="1"/>
          <p:nvPr/>
        </p:nvSpPr>
        <p:spPr>
          <a:xfrm>
            <a:off x="832104" y="259689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Création / attachement</a:t>
            </a:r>
          </a:p>
        </p:txBody>
      </p:sp>
      <p:sp>
        <p:nvSpPr>
          <p:cNvPr id="15" name="carte"/>
          <p:cNvSpPr/>
          <p:nvPr/>
        </p:nvSpPr>
        <p:spPr>
          <a:xfrm>
            <a:off x="4368698" y="182880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5002" y="1975104"/>
            <a:ext cx="274320" cy="274320"/>
          </a:xfrm>
          <a:prstGeom prst="rect">
            <a:avLst/>
          </a:prstGeom>
        </p:spPr>
      </p:pic>
      <p:sp>
        <p:nvSpPr>
          <p:cNvPr id="17" name="carte_t"/>
          <p:cNvSpPr txBox="1"/>
          <p:nvPr/>
        </p:nvSpPr>
        <p:spPr>
          <a:xfrm>
            <a:off x="4515002" y="230428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token</a:t>
            </a:r>
          </a:p>
        </p:txBody>
      </p:sp>
      <p:sp>
        <p:nvSpPr>
          <p:cNvPr id="18" name="carte_d"/>
          <p:cNvSpPr txBox="1"/>
          <p:nvPr/>
        </p:nvSpPr>
        <p:spPr>
          <a:xfrm>
            <a:off x="4515002" y="259689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Replay ~ 30 ms</a:t>
            </a:r>
          </a:p>
        </p:txBody>
      </p:sp>
      <p:sp>
        <p:nvSpPr>
          <p:cNvPr id="19" name="carte"/>
          <p:cNvSpPr/>
          <p:nvPr/>
        </p:nvSpPr>
        <p:spPr>
          <a:xfrm>
            <a:off x="8051596" y="182880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ecor"/>
          <p:cNvSpPr/>
          <p:nvPr/>
        </p:nvSpPr>
        <p:spPr>
          <a:xfrm>
            <a:off x="8161324" y="1828800"/>
            <a:ext cx="3234842" cy="27432"/>
          </a:xfrm>
          <a:prstGeom prst="rect">
            <a:avLst/>
          </a:prstGeom>
          <a:solidFill>
            <a:srgbClr val="659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w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7900" y="1975104"/>
            <a:ext cx="274320" cy="274320"/>
          </a:xfrm>
          <a:prstGeom prst="rect">
            <a:avLst/>
          </a:prstGeom>
        </p:spPr>
      </p:pic>
      <p:sp>
        <p:nvSpPr>
          <p:cNvPr id="22" name="carte_t"/>
          <p:cNvSpPr txBox="1"/>
          <p:nvPr/>
        </p:nvSpPr>
        <p:spPr>
          <a:xfrm>
            <a:off x="8197900" y="230428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denied</a:t>
            </a:r>
          </a:p>
        </p:txBody>
      </p:sp>
      <p:sp>
        <p:nvSpPr>
          <p:cNvPr id="23" name="carte_d"/>
          <p:cNvSpPr txBox="1"/>
          <p:nvPr/>
        </p:nvSpPr>
        <p:spPr>
          <a:xfrm>
            <a:off x="8197900" y="259689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Déni RBAC · bulle orange</a:t>
            </a:r>
          </a:p>
        </p:txBody>
      </p:sp>
      <p:sp>
        <p:nvSpPr>
          <p:cNvPr id="24" name="carte"/>
          <p:cNvSpPr/>
          <p:nvPr/>
        </p:nvSpPr>
        <p:spPr>
          <a:xfrm>
            <a:off x="685800" y="4046220"/>
            <a:ext cx="3454298" cy="1988819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33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" y="4192524"/>
            <a:ext cx="274320" cy="274320"/>
          </a:xfrm>
          <a:prstGeom prst="rect">
            <a:avLst/>
          </a:prstGeom>
        </p:spPr>
      </p:pic>
      <p:sp>
        <p:nvSpPr>
          <p:cNvPr id="26" name="carte_t"/>
          <p:cNvSpPr txBox="1"/>
          <p:nvPr/>
        </p:nvSpPr>
        <p:spPr>
          <a:xfrm>
            <a:off x="832104" y="4521708"/>
            <a:ext cx="316169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w="700">
                <a:solidFill>
                  <a:srgbClr val="E6EDF7"/>
                </a:solidFill>
                <a:latin typeface="Inter"/>
              </a:rPr>
              <a:t>done</a:t>
            </a:r>
          </a:p>
        </p:txBody>
      </p:sp>
      <p:sp>
        <p:nvSpPr>
          <p:cNvPr id="27" name="carte_d"/>
          <p:cNvSpPr txBox="1"/>
          <p:nvPr/>
        </p:nvSpPr>
        <p:spPr>
          <a:xfrm>
            <a:off x="832104" y="4814316"/>
            <a:ext cx="3161690" cy="1120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93A0BF"/>
                </a:solidFill>
                <a:latin typeface="Inter"/>
              </a:rPr>
              <a:t>Fin normale</a:t>
            </a:r>
          </a:p>
        </p:txBody>
      </p:sp>
      <p:sp>
        <p:nvSpPr>
          <p:cNvPr id="28" name="pagenum"/>
          <p:cNvSpPr txBox="1"/>
          <p:nvPr/>
        </p:nvSpPr>
        <p:spPr>
          <a:xfrm>
            <a:off x="10042855" y="5934456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B8C"/>
                </a:solidFill>
                <a:latin typeface="Inter"/>
              </a:rP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