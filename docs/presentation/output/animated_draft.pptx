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sa_white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5405120" cy="868680"/>
          </a:xfrm>
          <a:prstGeom prst="rect">
            <a:avLst/>
          </a:prstGeom>
        </p:spPr>
      </p:pic>
      <p:pic>
        <p:nvPicPr>
          <p:cNvPr id="9" name="Picture 8" descr="agirh_white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681" y="548640"/>
            <a:ext cx="1710213" cy="868680"/>
          </a:xfrm>
          <a:prstGeom prst="rect">
            <a:avLst/>
          </a:prstGeom>
        </p:spPr>
      </p:pic>
      <p:sp>
        <p:nvSpPr>
          <p:cNvPr id="10" name="breadcrumb"/>
          <p:cNvSpPr txBox="1"/>
          <p:nvPr/>
        </p:nvSpPr>
        <p:spPr>
          <a:xfrm>
            <a:off x="1523847" y="1920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8FC1F0"/>
                </a:solidFill>
                <a:latin typeface="Inter"/>
              </a:rPr>
              <a:t>STAGIAIRE INGÉNIEUR DATA &amp; IA</a:t>
            </a:r>
          </a:p>
        </p:txBody>
      </p:sp>
      <p:sp>
        <p:nvSpPr>
          <p:cNvPr id="11" name="titre"/>
          <p:cNvSpPr txBox="1"/>
          <p:nvPr/>
        </p:nvSpPr>
        <p:spPr>
          <a:xfrm>
            <a:off x="1523847" y="228600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0" b="0" w="800">
                <a:solidFill>
                  <a:srgbClr val="E6EDF7"/>
                </a:solidFill>
                <a:latin typeface="Inter"/>
              </a:rPr>
              <a:t>AGIRH</a:t>
            </a:r>
          </a:p>
        </p:txBody>
      </p:sp>
      <p:sp>
        <p:nvSpPr>
          <p:cNvPr id="12" name="corps"/>
          <p:cNvSpPr txBox="1"/>
          <p:nvPr/>
        </p:nvSpPr>
        <p:spPr>
          <a:xfrm>
            <a:off x="1523847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w="400">
                <a:solidFill>
                  <a:srgbClr val="93A0BF"/>
                </a:solidFill>
                <a:latin typeface="Inter"/>
              </a:rPr>
              <a:t>RAG, Sécurité &amp; Tests d'Architecture</a:t>
            </a:r>
          </a:p>
        </p:txBody>
      </p:sp>
      <p:sp>
        <p:nvSpPr>
          <p:cNvPr id="13" name="decor"/>
          <p:cNvSpPr/>
          <p:nvPr/>
        </p:nvSpPr>
        <p:spPr>
          <a:xfrm>
            <a:off x="4724247" y="4114800"/>
            <a:ext cx="27432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700887" y="43434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w="700">
                <a:solidFill>
                  <a:srgbClr val="E6EDF7"/>
                </a:solidFill>
                <a:latin typeface="Inter"/>
              </a:rPr>
              <a:t>Komla Edem Wilfried TSETSE</a:t>
            </a:r>
          </a:p>
        </p:txBody>
      </p:sp>
      <p:sp>
        <p:nvSpPr>
          <p:cNvPr id="15" name="corps"/>
          <p:cNvSpPr txBox="1"/>
          <p:nvPr/>
        </p:nvSpPr>
        <p:spPr>
          <a:xfrm>
            <a:off x="700887" y="470916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Élève Ingénieur — Filière GIDIA (Data Engineering &amp; IA)</a:t>
            </a:r>
          </a:p>
        </p:txBody>
      </p:sp>
      <p:sp>
        <p:nvSpPr>
          <p:cNvPr id="16" name="corps"/>
          <p:cNvSpPr txBox="1"/>
          <p:nvPr/>
        </p:nvSpPr>
        <p:spPr>
          <a:xfrm>
            <a:off x="700887" y="50292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École Nationale des Sciences Appliquées — Safi (ENSA Safi)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700887" y="534924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AGIRH — Casablanca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975207" y="57607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0">
                <a:solidFill>
                  <a:srgbClr val="93A0BF"/>
                </a:solidFill>
                <a:latin typeface="Inter"/>
              </a:rPr>
              <a:t>Tuteur école : [Tuteur école — à compléter]</a:t>
            </a:r>
          </a:p>
        </p:txBody>
      </p:sp>
      <p:sp>
        <p:nvSpPr>
          <p:cNvPr id="19" name="corps"/>
          <p:cNvSpPr txBox="1"/>
          <p:nvPr/>
        </p:nvSpPr>
        <p:spPr>
          <a:xfrm>
            <a:off x="6461607" y="57607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3A0BF"/>
                </a:solidFill>
                <a:latin typeface="Inter"/>
              </a:rPr>
              <a:t>Tuteur entreprise : M. Rachid DIDI ALAOUI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700887" y="61722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8C"/>
                </a:solidFill>
                <a:latin typeface="Inter"/>
              </a:rPr>
              <a:t>Soutenance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02 / 26</a:t>
            </a:r>
          </a:p>
        </p:txBody>
      </p:sp>
      <p:sp>
        <p:nvSpPr>
          <p:cNvPr id="9" name="titre"/>
          <p:cNvSpPr txBox="1"/>
          <p:nvPr/>
        </p:nvSpPr>
        <p:spPr>
          <a:xfrm>
            <a:off x="685800" y="13716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E6EDF7"/>
                </a:solidFill>
                <a:latin typeface="Inter"/>
              </a:rPr>
              <a:t>Un pipeline IA multi-agents déployé de bout en bout</a:t>
            </a:r>
          </a:p>
        </p:txBody>
      </p:sp>
      <p:sp>
        <p:nvSpPr>
          <p:cNvPr id="10" name="corps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w="500">
                <a:solidFill>
                  <a:srgbClr val="8FC1F0"/>
                </a:solidFill>
                <a:latin typeface="Inter"/>
              </a:rPr>
              <a:t>RAG vectoriel · RBAC fail-closed · Streaming SSE · 90 tests verts</a:t>
            </a:r>
          </a:p>
        </p:txBody>
      </p:sp>
      <p:sp>
        <p:nvSpPr>
          <p:cNvPr id="11" name="kpi_0"/>
          <p:cNvSpPr/>
          <p:nvPr/>
        </p:nvSpPr>
        <p:spPr>
          <a:xfrm>
            <a:off x="6858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868680" y="3657600"/>
            <a:ext cx="301752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_v"/>
          <p:cNvSpPr txBox="1"/>
          <p:nvPr/>
        </p:nvSpPr>
        <p:spPr>
          <a:xfrm>
            <a:off x="9144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8FC1F0"/>
                </a:solidFill>
                <a:latin typeface="Inter"/>
              </a:rPr>
              <a:t>90/90</a:t>
            </a:r>
          </a:p>
        </p:txBody>
      </p:sp>
      <p:sp>
        <p:nvSpPr>
          <p:cNvPr id="14" name="kpi_l"/>
          <p:cNvSpPr txBox="1"/>
          <p:nvPr/>
        </p:nvSpPr>
        <p:spPr>
          <a:xfrm>
            <a:off x="9144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tests backend verts</a:t>
            </a:r>
          </a:p>
        </p:txBody>
      </p:sp>
      <p:sp>
        <p:nvSpPr>
          <p:cNvPr id="15" name="kpi_1"/>
          <p:cNvSpPr/>
          <p:nvPr/>
        </p:nvSpPr>
        <p:spPr>
          <a:xfrm>
            <a:off x="43434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r"/>
          <p:cNvSpPr/>
          <p:nvPr/>
        </p:nvSpPr>
        <p:spPr>
          <a:xfrm>
            <a:off x="4526280" y="3657600"/>
            <a:ext cx="301752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_v"/>
          <p:cNvSpPr txBox="1"/>
          <p:nvPr/>
        </p:nvSpPr>
        <p:spPr>
          <a:xfrm>
            <a:off x="45720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E59B5F"/>
                </a:solidFill>
                <a:latin typeface="Inter"/>
              </a:rPr>
              <a:t>~30 ms</a:t>
            </a:r>
          </a:p>
        </p:txBody>
      </p:sp>
      <p:sp>
        <p:nvSpPr>
          <p:cNvPr id="18" name="kpi_l"/>
          <p:cNvSpPr txBox="1"/>
          <p:nvPr/>
        </p:nvSpPr>
        <p:spPr>
          <a:xfrm>
            <a:off x="45720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par token en streaming SSE</a:t>
            </a:r>
          </a:p>
        </p:txBody>
      </p:sp>
      <p:sp>
        <p:nvSpPr>
          <p:cNvPr id="19" name="kpi_2"/>
          <p:cNvSpPr/>
          <p:nvPr/>
        </p:nvSpPr>
        <p:spPr>
          <a:xfrm>
            <a:off x="80010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83879" y="3657600"/>
            <a:ext cx="301752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_v"/>
          <p:cNvSpPr txBox="1"/>
          <p:nvPr/>
        </p:nvSpPr>
        <p:spPr>
          <a:xfrm>
            <a:off x="82296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8FC1F0"/>
                </a:solidFill>
                <a:latin typeface="Inter"/>
              </a:rPr>
              <a:t>&lt; 200 ms</a:t>
            </a:r>
          </a:p>
        </p:txBody>
      </p:sp>
      <p:sp>
        <p:nvSpPr>
          <p:cNvPr id="22" name="kpi_l"/>
          <p:cNvSpPr txBox="1"/>
          <p:nvPr/>
        </p:nvSpPr>
        <p:spPr>
          <a:xfrm>
            <a:off x="82296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salutations pré-LLM (0 appel modèle)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5" grpId="1"/>
              <p:bldP spid="19" grpId="2"/>
            </p:bldLst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PLAN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Trajectoire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7373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01</a:t>
            </a:r>
          </a:p>
        </p:txBody>
      </p:sp>
      <p:pic>
        <p:nvPicPr>
          <p:cNvPr id="11" name="Picture 10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65376"/>
            <a:ext cx="310896" cy="310896"/>
          </a:xfrm>
          <a:prstGeom prst="rect">
            <a:avLst/>
          </a:prstGeom>
        </p:spPr>
      </p:pic>
      <p:sp>
        <p:nvSpPr>
          <p:cNvPr id="12" name="corps"/>
          <p:cNvSpPr txBox="1"/>
          <p:nvPr/>
        </p:nvSpPr>
        <p:spPr>
          <a:xfrm>
            <a:off x="2057400" y="1719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Le Défi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892040" y="17922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LLM vulnérables, données RH sensibles</a:t>
            </a:r>
          </a:p>
        </p:txBody>
      </p:sp>
      <p:sp>
        <p:nvSpPr>
          <p:cNvPr id="14" name="decor"/>
          <p:cNvSpPr/>
          <p:nvPr/>
        </p:nvSpPr>
        <p:spPr>
          <a:xfrm>
            <a:off x="4892040" y="2377439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te"/>
          <p:cNvSpPr/>
          <p:nvPr/>
        </p:nvSpPr>
        <p:spPr>
          <a:xfrm>
            <a:off x="685800" y="26517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02</a:t>
            </a:r>
          </a:p>
        </p:txBody>
      </p:sp>
      <p:pic>
        <p:nvPicPr>
          <p:cNvPr id="16" name="Picture 15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779776"/>
            <a:ext cx="310896" cy="310896"/>
          </a:xfrm>
          <a:prstGeom prst="rect">
            <a:avLst/>
          </a:prstGeom>
        </p:spPr>
      </p:pic>
      <p:sp>
        <p:nvSpPr>
          <p:cNvPr id="17" name="corps"/>
          <p:cNvSpPr txBox="1"/>
          <p:nvPr/>
        </p:nvSpPr>
        <p:spPr>
          <a:xfrm>
            <a:off x="2057400" y="26334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Le Bouclier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4892040" y="27066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Architecture Zero-Trust, pipeline Actor-Critic</a:t>
            </a:r>
          </a:p>
        </p:txBody>
      </p:sp>
      <p:sp>
        <p:nvSpPr>
          <p:cNvPr id="19" name="decor"/>
          <p:cNvSpPr/>
          <p:nvPr/>
        </p:nvSpPr>
        <p:spPr>
          <a:xfrm>
            <a:off x="4892040" y="3291839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te"/>
          <p:cNvSpPr/>
          <p:nvPr/>
        </p:nvSpPr>
        <p:spPr>
          <a:xfrm>
            <a:off x="685800" y="35661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03</a:t>
            </a:r>
          </a:p>
        </p:txBody>
      </p:sp>
      <p:pic>
        <p:nvPicPr>
          <p:cNvPr id="21" name="Picture 2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694176"/>
            <a:ext cx="310896" cy="310896"/>
          </a:xfrm>
          <a:prstGeom prst="rect">
            <a:avLst/>
          </a:prstGeom>
        </p:spPr>
      </p:pic>
      <p:sp>
        <p:nvSpPr>
          <p:cNvPr id="22" name="corps"/>
          <p:cNvSpPr txBox="1"/>
          <p:nvPr/>
        </p:nvSpPr>
        <p:spPr>
          <a:xfrm>
            <a:off x="2057400" y="35478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La Machinerie</a:t>
            </a:r>
          </a:p>
        </p:txBody>
      </p:sp>
      <p:sp>
        <p:nvSpPr>
          <p:cNvPr id="23" name="corps"/>
          <p:cNvSpPr txBox="1"/>
          <p:nvPr/>
        </p:nvSpPr>
        <p:spPr>
          <a:xfrm>
            <a:off x="4892040" y="36210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RAG vectoriel, use case métier, BFF sécurisé</a:t>
            </a:r>
          </a:p>
        </p:txBody>
      </p:sp>
      <p:sp>
        <p:nvSpPr>
          <p:cNvPr id="24" name="decor"/>
          <p:cNvSpPr/>
          <p:nvPr/>
        </p:nvSpPr>
        <p:spPr>
          <a:xfrm>
            <a:off x="4892040" y="4206240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te"/>
          <p:cNvSpPr/>
          <p:nvPr/>
        </p:nvSpPr>
        <p:spPr>
          <a:xfrm>
            <a:off x="685800" y="44805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04</a:t>
            </a:r>
          </a:p>
        </p:txBody>
      </p:sp>
      <p:pic>
        <p:nvPicPr>
          <p:cNvPr id="26" name="Picture 25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608576"/>
            <a:ext cx="310896" cy="310896"/>
          </a:xfrm>
          <a:prstGeom prst="rect">
            <a:avLst/>
          </a:prstGeom>
        </p:spPr>
      </p:pic>
      <p:sp>
        <p:nvSpPr>
          <p:cNvPr id="27" name="corps"/>
          <p:cNvSpPr txBox="1"/>
          <p:nvPr/>
        </p:nvSpPr>
        <p:spPr>
          <a:xfrm>
            <a:off x="2057400" y="44622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La Validation</a:t>
            </a:r>
          </a:p>
        </p:txBody>
      </p:sp>
      <p:sp>
        <p:nvSpPr>
          <p:cNvPr id="28" name="corps"/>
          <p:cNvSpPr txBox="1"/>
          <p:nvPr/>
        </p:nvSpPr>
        <p:spPr>
          <a:xfrm>
            <a:off x="4892040" y="45354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90/90 tests, latences mesurées, audits GO</a:t>
            </a:r>
          </a:p>
        </p:txBody>
      </p:sp>
      <p:sp>
        <p:nvSpPr>
          <p:cNvPr id="29" name="decor"/>
          <p:cNvSpPr/>
          <p:nvPr/>
        </p:nvSpPr>
        <p:spPr>
          <a:xfrm>
            <a:off x="4892040" y="5120640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03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01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01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Le Défi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Fiabiliser l'IA sur des données RH sensibles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04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01 · LE DÉFI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Les LLM nus ne peuvent pas agir sur des données RH sensibles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Hallucinations, accès croisés, latence : l'IA générative doit être encadrée avant de toucher au métier.</a:t>
            </a:r>
          </a:p>
        </p:txBody>
      </p:sp>
      <p:sp>
        <p:nvSpPr>
          <p:cNvPr id="11" name="carte"/>
          <p:cNvSpPr/>
          <p:nvPr/>
        </p:nvSpPr>
        <p:spPr>
          <a:xfrm>
            <a:off x="434340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445312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066544"/>
            <a:ext cx="274320" cy="274320"/>
          </a:xfrm>
          <a:prstGeom prst="rect">
            <a:avLst/>
          </a:prstGeom>
        </p:spPr>
      </p:pic>
      <p:sp>
        <p:nvSpPr>
          <p:cNvPr id="14" name="carte_t"/>
          <p:cNvSpPr txBox="1"/>
          <p:nvPr/>
        </p:nvSpPr>
        <p:spPr>
          <a:xfrm>
            <a:off x="448970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Hallucinations</a:t>
            </a:r>
          </a:p>
        </p:txBody>
      </p:sp>
      <p:sp>
        <p:nvSpPr>
          <p:cNvPr id="15" name="carte_d"/>
          <p:cNvSpPr txBox="1"/>
          <p:nvPr/>
        </p:nvSpPr>
        <p:spPr>
          <a:xfrm>
            <a:off x="448970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Une réponse inventée = une action métier fausse.</a:t>
            </a:r>
          </a:p>
        </p:txBody>
      </p:sp>
      <p:sp>
        <p:nvSpPr>
          <p:cNvPr id="16" name="carte"/>
          <p:cNvSpPr/>
          <p:nvPr/>
        </p:nvSpPr>
        <p:spPr>
          <a:xfrm>
            <a:off x="679704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44" y="2066544"/>
            <a:ext cx="274320" cy="274320"/>
          </a:xfrm>
          <a:prstGeom prst="rect">
            <a:avLst/>
          </a:prstGeom>
        </p:spPr>
      </p:pic>
      <p:sp>
        <p:nvSpPr>
          <p:cNvPr id="18" name="carte_t"/>
          <p:cNvSpPr txBox="1"/>
          <p:nvPr/>
        </p:nvSpPr>
        <p:spPr>
          <a:xfrm>
            <a:off x="694334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Données confidentielles</a:t>
            </a:r>
          </a:p>
        </p:txBody>
      </p:sp>
      <p:sp>
        <p:nvSpPr>
          <p:cNvPr id="19" name="carte_d"/>
          <p:cNvSpPr txBox="1"/>
          <p:nvPr/>
        </p:nvSpPr>
        <p:spPr>
          <a:xfrm>
            <a:off x="694334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Salaire, congés, onboarding : secrets d'entreprise.</a:t>
            </a:r>
          </a:p>
        </p:txBody>
      </p:sp>
      <p:sp>
        <p:nvSpPr>
          <p:cNvPr id="20" name="carte"/>
          <p:cNvSpPr/>
          <p:nvPr/>
        </p:nvSpPr>
        <p:spPr>
          <a:xfrm>
            <a:off x="925068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936040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984" y="2066544"/>
            <a:ext cx="274320" cy="274320"/>
          </a:xfrm>
          <a:prstGeom prst="rect">
            <a:avLst/>
          </a:prstGeom>
        </p:spPr>
      </p:pic>
      <p:sp>
        <p:nvSpPr>
          <p:cNvPr id="23" name="carte_t"/>
          <p:cNvSpPr txBox="1"/>
          <p:nvPr/>
        </p:nvSpPr>
        <p:spPr>
          <a:xfrm>
            <a:off x="939698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Accès par rôle</a:t>
            </a:r>
          </a:p>
        </p:txBody>
      </p:sp>
      <p:sp>
        <p:nvSpPr>
          <p:cNvPr id="24" name="carte_d"/>
          <p:cNvSpPr txBox="1"/>
          <p:nvPr/>
        </p:nvSpPr>
        <p:spPr>
          <a:xfrm>
            <a:off x="939698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Admin, Manager, Collaborateur : périmètres distincts.</a:t>
            </a:r>
          </a:p>
        </p:txBody>
      </p:sp>
      <p:sp>
        <p:nvSpPr>
          <p:cNvPr id="25" name="carte"/>
          <p:cNvSpPr/>
          <p:nvPr/>
        </p:nvSpPr>
        <p:spPr>
          <a:xfrm>
            <a:off x="4343400" y="404622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4192524"/>
            <a:ext cx="274320" cy="274320"/>
          </a:xfrm>
          <a:prstGeom prst="rect">
            <a:avLst/>
          </a:prstGeom>
        </p:spPr>
      </p:pic>
      <p:sp>
        <p:nvSpPr>
          <p:cNvPr id="27" name="carte_t"/>
          <p:cNvSpPr txBox="1"/>
          <p:nvPr/>
        </p:nvSpPr>
        <p:spPr>
          <a:xfrm>
            <a:off x="4489704" y="45217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Temps réel</a:t>
            </a:r>
          </a:p>
        </p:txBody>
      </p:sp>
      <p:sp>
        <p:nvSpPr>
          <p:cNvPr id="28" name="carte_d"/>
          <p:cNvSpPr txBox="1"/>
          <p:nvPr/>
        </p:nvSpPr>
        <p:spPr>
          <a:xfrm>
            <a:off x="4489704" y="481431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Réponse attendue en continu, pas en batch.</a:t>
            </a:r>
          </a:p>
        </p:txBody>
      </p:sp>
      <p:sp>
        <p:nvSpPr>
          <p:cNvPr id="2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05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01 · LE DÉFI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Zero-Trust par défaut : aucun accès sans preuve, aucune erreur ouverte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Fail-closed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Tout défaut d'information → refus, jamais d'ouverture.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Anti-énumération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403 = 404 : une ressource inaccessible est introuvable.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TOCTOU neutralisé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Index unique filtré : un seul Pending par employé.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Rate-limiting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429 : login 5/min, chat 20/min.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FallbackPolicy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Toute route non décorée exige un JWT.</a:t>
            </a:r>
          </a:p>
        </p:txBody>
      </p:sp>
      <p:sp>
        <p:nvSpPr>
          <p:cNvPr id="33" name="carte"/>
          <p:cNvSpPr/>
          <p:nvPr/>
        </p:nvSpPr>
        <p:spPr>
          <a:xfrm>
            <a:off x="8051596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7900" y="4192524"/>
            <a:ext cx="274320" cy="274320"/>
          </a:xfrm>
          <a:prstGeom prst="rect">
            <a:avLst/>
          </a:prstGeom>
        </p:spPr>
      </p:pic>
      <p:sp>
        <p:nvSpPr>
          <p:cNvPr id="35" name="carte_t"/>
          <p:cNvSpPr txBox="1"/>
          <p:nvPr/>
        </p:nvSpPr>
        <p:spPr>
          <a:xfrm>
            <a:off x="8197900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Déni visible</a:t>
            </a:r>
          </a:p>
        </p:txBody>
      </p:sp>
      <p:sp>
        <p:nvSpPr>
          <p:cNvPr id="36" name="carte_d"/>
          <p:cNvSpPr txBox="1"/>
          <p:nvPr/>
        </p:nvSpPr>
        <p:spPr>
          <a:xfrm>
            <a:off x="8197900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Événement SSE denied → bulle orange.</a:t>
            </a:r>
          </a:p>
        </p:txBody>
      </p:sp>
      <p:sp>
        <p:nvSpPr>
          <p:cNvPr id="3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06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02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02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Le Bouclier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Une architecture Zero-Trust, hexagonale et agentique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07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Architecture hexagonale : domaine pur, découplé, testable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Le domaine ne dépend de rien. Les dépendances pointent toujours vers l'intérieur. Le frontend ne parle qu'à son BFF.</a:t>
            </a:r>
          </a:p>
        </p:txBody>
      </p:sp>
      <p:sp>
        <p:nvSpPr>
          <p:cNvPr id="11" name="ring_0"/>
          <p:cNvSpPr/>
          <p:nvPr/>
        </p:nvSpPr>
        <p:spPr>
          <a:xfrm>
            <a:off x="4343400" y="1965960"/>
            <a:ext cx="7132320" cy="749808"/>
          </a:xfrm>
          <a:prstGeom prst="roundRect">
            <a:avLst>
              <a:gd name="adj" fmla="val 10000"/>
            </a:avLst>
          </a:prstGeom>
          <a:solidFill>
            <a:srgbClr val="2C4C9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075688"/>
            <a:ext cx="12664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Agirh.Api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350008"/>
            <a:ext cx="25283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composition root · DI</a:t>
            </a:r>
          </a:p>
        </p:txBody>
      </p:sp>
      <p:sp>
        <p:nvSpPr>
          <p:cNvPr id="14" name="ring_1"/>
          <p:cNvSpPr/>
          <p:nvPr/>
        </p:nvSpPr>
        <p:spPr>
          <a:xfrm>
            <a:off x="4985308" y="2843784"/>
            <a:ext cx="5848502" cy="749808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rps"/>
          <p:cNvSpPr txBox="1"/>
          <p:nvPr/>
        </p:nvSpPr>
        <p:spPr>
          <a:xfrm>
            <a:off x="5076748" y="295351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Infrastructure</a:t>
            </a:r>
          </a:p>
        </p:txBody>
      </p:sp>
      <p:sp>
        <p:nvSpPr>
          <p:cNvPr id="16" name="corps"/>
          <p:cNvSpPr txBox="1"/>
          <p:nvPr/>
        </p:nvSpPr>
        <p:spPr>
          <a:xfrm>
            <a:off x="5076748" y="3227832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adaptateurs · EF · agents IA</a:t>
            </a:r>
          </a:p>
        </p:txBody>
      </p:sp>
      <p:sp>
        <p:nvSpPr>
          <p:cNvPr id="17" name="ring_2"/>
          <p:cNvSpPr/>
          <p:nvPr/>
        </p:nvSpPr>
        <p:spPr>
          <a:xfrm>
            <a:off x="5627217" y="3721608"/>
            <a:ext cx="4564684" cy="749808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rps"/>
          <p:cNvSpPr txBox="1"/>
          <p:nvPr/>
        </p:nvSpPr>
        <p:spPr>
          <a:xfrm>
            <a:off x="5718657" y="3831336"/>
            <a:ext cx="740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Core</a:t>
            </a:r>
          </a:p>
        </p:txBody>
      </p:sp>
      <p:sp>
        <p:nvSpPr>
          <p:cNvPr id="19" name="corps"/>
          <p:cNvSpPr txBox="1"/>
          <p:nvPr/>
        </p:nvSpPr>
        <p:spPr>
          <a:xfrm>
            <a:off x="5718657" y="4105656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ports · use cases · RBAC</a:t>
            </a:r>
          </a:p>
        </p:txBody>
      </p:sp>
      <p:sp>
        <p:nvSpPr>
          <p:cNvPr id="20" name="ring_3"/>
          <p:cNvSpPr/>
          <p:nvPr/>
        </p:nvSpPr>
        <p:spPr>
          <a:xfrm>
            <a:off x="6269126" y="4599431"/>
            <a:ext cx="3280867" cy="749808"/>
          </a:xfrm>
          <a:prstGeom prst="roundRect">
            <a:avLst>
              <a:gd name="adj" fmla="val 10000"/>
            </a:avLst>
          </a:prstGeom>
          <a:solidFill>
            <a:srgbClr val="659ED4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rps"/>
          <p:cNvSpPr txBox="1"/>
          <p:nvPr/>
        </p:nvSpPr>
        <p:spPr>
          <a:xfrm>
            <a:off x="6360566" y="4709159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Domain</a:t>
            </a:r>
          </a:p>
        </p:txBody>
      </p:sp>
      <p:sp>
        <p:nvSpPr>
          <p:cNvPr id="22" name="corps"/>
          <p:cNvSpPr txBox="1"/>
          <p:nvPr/>
        </p:nvSpPr>
        <p:spPr>
          <a:xfrm>
            <a:off x="6360566" y="4983479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pur · 0 dépendance</a:t>
            </a:r>
          </a:p>
        </p:txBody>
      </p:sp>
      <p:sp>
        <p:nvSpPr>
          <p:cNvPr id="23" name="port"/>
          <p:cNvSpPr/>
          <p:nvPr/>
        </p:nvSpPr>
        <p:spPr>
          <a:xfrm>
            <a:off x="9738360" y="291693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9829800" y="3026664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Repos EF</a:t>
            </a:r>
          </a:p>
        </p:txBody>
      </p:sp>
      <p:sp>
        <p:nvSpPr>
          <p:cNvPr id="25" name="port"/>
          <p:cNvSpPr/>
          <p:nvPr/>
        </p:nvSpPr>
        <p:spPr>
          <a:xfrm>
            <a:off x="8183880" y="291693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rps"/>
          <p:cNvSpPr txBox="1"/>
          <p:nvPr/>
        </p:nvSpPr>
        <p:spPr>
          <a:xfrm>
            <a:off x="8275320" y="3026664"/>
            <a:ext cx="12664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Agents IA</a:t>
            </a:r>
          </a:p>
        </p:txBody>
      </p:sp>
      <p:sp>
        <p:nvSpPr>
          <p:cNvPr id="2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08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4" grpId="1"/>
              <p:bldP spid="17" grpId="2"/>
              <p:bldP spid="20" grpId="3"/>
              <p:bldP spid="23" grpId="4"/>
              <p:bldP spid="25" grpId="4"/>
            </p:bldLst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Pipeline Actor-Critic : le RBAC (C#) ne dépend jamais du LLM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Quatre agents orchestrés. Le Dispatcher tranche les droits en C# pur — zéro modèle. Le Checker valide avant envoi.</a:t>
            </a:r>
          </a:p>
        </p:txBody>
      </p:sp>
      <p:sp>
        <p:nvSpPr>
          <p:cNvPr id="11" name="pipe_0"/>
          <p:cNvSpPr/>
          <p:nvPr/>
        </p:nvSpPr>
        <p:spPr>
          <a:xfrm>
            <a:off x="43434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intention JSON</a:t>
            </a:r>
          </a:p>
        </p:txBody>
      </p:sp>
      <p:sp>
        <p:nvSpPr>
          <p:cNvPr id="14" name="decor"/>
          <p:cNvSpPr/>
          <p:nvPr/>
        </p:nvSpPr>
        <p:spPr>
          <a:xfrm>
            <a:off x="5513832" y="2514599"/>
            <a:ext cx="201167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pe_1"/>
          <p:cNvSpPr/>
          <p:nvPr/>
        </p:nvSpPr>
        <p:spPr>
          <a:xfrm>
            <a:off x="57150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58064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58064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RBAC C# · 0 LLM</a:t>
            </a:r>
          </a:p>
        </p:txBody>
      </p:sp>
      <p:sp>
        <p:nvSpPr>
          <p:cNvPr id="18" name="decor"/>
          <p:cNvSpPr/>
          <p:nvPr/>
        </p:nvSpPr>
        <p:spPr>
          <a:xfrm>
            <a:off x="6885432" y="2514599"/>
            <a:ext cx="201167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pe_2"/>
          <p:cNvSpPr/>
          <p:nvPr/>
        </p:nvSpPr>
        <p:spPr>
          <a:xfrm>
            <a:off x="70866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7178040" y="221284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Worker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71780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outils MAF</a:t>
            </a:r>
          </a:p>
        </p:txBody>
      </p:sp>
      <p:sp>
        <p:nvSpPr>
          <p:cNvPr id="22" name="decor"/>
          <p:cNvSpPr/>
          <p:nvPr/>
        </p:nvSpPr>
        <p:spPr>
          <a:xfrm>
            <a:off x="8257031" y="2514599"/>
            <a:ext cx="201168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pe_3"/>
          <p:cNvSpPr/>
          <p:nvPr/>
        </p:nvSpPr>
        <p:spPr>
          <a:xfrm>
            <a:off x="84582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85496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Synthesizer</a:t>
            </a:r>
          </a:p>
        </p:txBody>
      </p:sp>
      <p:sp>
        <p:nvSpPr>
          <p:cNvPr id="25" name="corps"/>
          <p:cNvSpPr txBox="1"/>
          <p:nvPr/>
        </p:nvSpPr>
        <p:spPr>
          <a:xfrm>
            <a:off x="85496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reformulation</a:t>
            </a:r>
          </a:p>
        </p:txBody>
      </p:sp>
      <p:sp>
        <p:nvSpPr>
          <p:cNvPr id="26" name="decor"/>
          <p:cNvSpPr/>
          <p:nvPr/>
        </p:nvSpPr>
        <p:spPr>
          <a:xfrm>
            <a:off x="9628632" y="2514599"/>
            <a:ext cx="201168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pe_4"/>
          <p:cNvSpPr/>
          <p:nvPr/>
        </p:nvSpPr>
        <p:spPr>
          <a:xfrm>
            <a:off x="98298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rps"/>
          <p:cNvSpPr txBox="1"/>
          <p:nvPr/>
        </p:nvSpPr>
        <p:spPr>
          <a:xfrm>
            <a:off x="99212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29" name="corps"/>
          <p:cNvSpPr txBox="1"/>
          <p:nvPr/>
        </p:nvSpPr>
        <p:spPr>
          <a:xfrm>
            <a:off x="99212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fail-closed</a:t>
            </a:r>
          </a:p>
        </p:txBody>
      </p:sp>
      <p:sp>
        <p:nvSpPr>
          <p:cNvPr id="30" name="sse"/>
          <p:cNvSpPr/>
          <p:nvPr/>
        </p:nvSpPr>
        <p:spPr>
          <a:xfrm>
            <a:off x="4343400" y="3520439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rps"/>
          <p:cNvSpPr txBox="1"/>
          <p:nvPr/>
        </p:nvSpPr>
        <p:spPr>
          <a:xfrm>
            <a:off x="4434840" y="3630168"/>
            <a:ext cx="31592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SSE → token · done · denied</a:t>
            </a:r>
          </a:p>
        </p:txBody>
      </p:sp>
      <p:sp>
        <p:nvSpPr>
          <p:cNvPr id="32" name="decor"/>
          <p:cNvSpPr/>
          <p:nvPr/>
        </p:nvSpPr>
        <p:spPr>
          <a:xfrm>
            <a:off x="4690872" y="3154679"/>
            <a:ext cx="219456" cy="320040"/>
          </a:xfrm>
          <a:prstGeom prst="up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09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5" grpId="1"/>
              <p:bldP spid="19" grpId="2"/>
              <p:bldP spid="23" grpId="3"/>
              <p:bldP spid="27" grpId="4"/>
              <p:bldP spid="30" grpId="5"/>
            </p:bldLst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Mitigation des failles TOCTOU par défaut fail-closed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Deux demandes parallèles → un seul Pending autorisé. L'index filtré en base est la seconde ligne de défense.</a:t>
            </a:r>
          </a:p>
        </p:txBody>
      </p:sp>
      <p:sp>
        <p:nvSpPr>
          <p:cNvPr id="11" name="req1"/>
          <p:cNvSpPr/>
          <p:nvPr/>
        </p:nvSpPr>
        <p:spPr>
          <a:xfrm>
            <a:off x="4434840" y="20116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526279" y="212140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Requête 1 — 2 000 €</a:t>
            </a:r>
          </a:p>
        </p:txBody>
      </p:sp>
      <p:sp>
        <p:nvSpPr>
          <p:cNvPr id="13" name="req2"/>
          <p:cNvSpPr/>
          <p:nvPr/>
        </p:nvSpPr>
        <p:spPr>
          <a:xfrm>
            <a:off x="8183880" y="20116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8275320" y="212140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Requête 2 — 2 000 €</a:t>
            </a:r>
          </a:p>
        </p:txBody>
      </p:sp>
      <p:sp>
        <p:nvSpPr>
          <p:cNvPr id="15" name="idx"/>
          <p:cNvSpPr/>
          <p:nvPr/>
        </p:nvSpPr>
        <p:spPr>
          <a:xfrm>
            <a:off x="6126480" y="306324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B559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6217920" y="317296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59B5F"/>
                </a:solidFill>
                <a:latin typeface="Inter"/>
              </a:rPr>
              <a:t>Index unique filtré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6217920" y="344728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(EmployeeId) WHERE Pending</a:t>
            </a:r>
          </a:p>
        </p:txBody>
      </p:sp>
      <p:sp>
        <p:nvSpPr>
          <p:cNvPr id="18" name="db"/>
          <p:cNvSpPr/>
          <p:nvPr/>
        </p:nvSpPr>
        <p:spPr>
          <a:xfrm>
            <a:off x="4434840" y="438912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rps"/>
          <p:cNvSpPr txBox="1"/>
          <p:nvPr/>
        </p:nvSpPr>
        <p:spPr>
          <a:xfrm>
            <a:off x="4526279" y="44988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SalaryAdvanceRequest</a:t>
            </a:r>
          </a:p>
        </p:txBody>
      </p:sp>
      <p:sp>
        <p:nvSpPr>
          <p:cNvPr id="20" name="rej"/>
          <p:cNvSpPr/>
          <p:nvPr/>
        </p:nvSpPr>
        <p:spPr>
          <a:xfrm>
            <a:off x="8183880" y="438912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B559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rps"/>
          <p:cNvSpPr txBox="1"/>
          <p:nvPr/>
        </p:nvSpPr>
        <p:spPr>
          <a:xfrm>
            <a:off x="8275320" y="449884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59B5F"/>
                </a:solidFill>
                <a:latin typeface="Inter"/>
              </a:rPr>
              <a:t>✗ REJET (TOCTOU)</a:t>
            </a:r>
          </a:p>
        </p:txBody>
      </p:sp>
      <p:sp>
        <p:nvSpPr>
          <p:cNvPr id="22" name="decor"/>
          <p:cNvSpPr/>
          <p:nvPr/>
        </p:nvSpPr>
        <p:spPr>
          <a:xfrm>
            <a:off x="6656832" y="2651760"/>
            <a:ext cx="219456" cy="411479"/>
          </a:xfrm>
          <a:prstGeom prst="down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6656832" y="3886200"/>
            <a:ext cx="219456" cy="502920"/>
          </a:xfrm>
          <a:prstGeom prst="down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cor"/>
          <p:cNvSpPr/>
          <p:nvPr/>
        </p:nvSpPr>
        <p:spPr>
          <a:xfrm>
            <a:off x="9083649" y="2651760"/>
            <a:ext cx="219456" cy="1737360"/>
          </a:xfrm>
          <a:prstGeom prst="downArrow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10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3" grpId="1"/>
              <p:bldP spid="15" grpId="2"/>
              <p:bldP spid="20" grpId="3"/>
              <p:bldP spid="18" grpId="4"/>
            </p:bldLst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03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03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La Machinerie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Extraction sémantique et exécution déterministe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11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 dispatcher C# tranche avant tout appel au LLM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La sentinelle DENIED devient la bulle orange côté frontend. Un rejet métier reste une réponse polie.</a:t>
            </a:r>
          </a:p>
        </p:txBody>
      </p:sp>
      <p:sp>
        <p:nvSpPr>
          <p:cNvPr id="11" name="code"/>
          <p:cNvSpPr/>
          <p:nvPr/>
        </p:nvSpPr>
        <p:spPr>
          <a:xfrm>
            <a:off x="4343400" y="1828800"/>
            <a:ext cx="7132320" cy="3209544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_header"/>
          <p:cNvSpPr/>
          <p:nvPr/>
        </p:nvSpPr>
        <p:spPr>
          <a:xfrm>
            <a:off x="4343400" y="182880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8424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8424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8424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cker"/>
          <p:cNvSpPr txBox="1"/>
          <p:nvPr/>
        </p:nvSpPr>
        <p:spPr>
          <a:xfrm>
            <a:off x="5715000" y="193852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AgentOrchestratorService.cs</a:t>
            </a:r>
          </a:p>
        </p:txBody>
      </p:sp>
      <p:sp>
        <p:nvSpPr>
          <p:cNvPr id="17" name="code_body"/>
          <p:cNvSpPr/>
          <p:nvPr/>
        </p:nvSpPr>
        <p:spPr>
          <a:xfrm>
            <a:off x="4361688" y="2286000"/>
            <a:ext cx="7095744" cy="2706624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var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intent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await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_profiler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ExtractAsync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message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preflight = _validator.Validate(intent);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if (!preflight.IsValid) return Reply(preflight.Message);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var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_dispatcher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intent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role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userId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if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Rejected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Sentinel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DENIED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worker = await _worker.RunAsync(dispatch.Tool);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draft = await _synthesizer.ReformulateAsync(worker);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await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_checker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ValidateAsync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draft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12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2" grpId="0"/>
              <p:bldP spid="17" grpId="0"/>
            </p:bldLst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La réponse s'ancre sur la base RH, pas sur la mémoire du modèle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Chunking 512/128, embeddings 768d, recherche sémantique top-5 en SQL natif.</a:t>
            </a:r>
          </a:p>
        </p:txBody>
      </p:sp>
      <p:sp>
        <p:nvSpPr>
          <p:cNvPr id="11" name="code"/>
          <p:cNvSpPr/>
          <p:nvPr/>
        </p:nvSpPr>
        <p:spPr>
          <a:xfrm>
            <a:off x="4343400" y="1828800"/>
            <a:ext cx="7132320" cy="19659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_header"/>
          <p:cNvSpPr/>
          <p:nvPr/>
        </p:nvSpPr>
        <p:spPr>
          <a:xfrm>
            <a:off x="4343400" y="182880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8424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8424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8424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cker"/>
          <p:cNvSpPr txBox="1"/>
          <p:nvPr/>
        </p:nvSpPr>
        <p:spPr>
          <a:xfrm>
            <a:off x="5715000" y="193852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KnowledgeDocumentRepository.sql</a:t>
            </a:r>
          </a:p>
        </p:txBody>
      </p:sp>
      <p:sp>
        <p:nvSpPr>
          <p:cNvPr id="17" name="code_body"/>
          <p:cNvSpPr/>
          <p:nvPr/>
        </p:nvSpPr>
        <p:spPr>
          <a:xfrm>
            <a:off x="4361688" y="2286000"/>
            <a:ext cx="7095744" cy="14630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SELECT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TOP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F78C6C"/>
                </a:solidFill>
                <a:latin typeface="JetBrains Mono"/>
              </a:rPr>
              <a:t>5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ChunkText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FROM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KnowledgeDocuments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ORDER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BY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VECTOR_DISTANCE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89DDFF"/>
                </a:solidFill>
                <a:latin typeface="JetBrains Mono"/>
              </a:rPr>
              <a:t>'cosine'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Embedding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@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query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  -- modèle : embeddinggemma · 768 dimensions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13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2" grpId="0"/>
              <p:bldP spid="17" grpId="0"/>
            </p:bldLst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Cap métier à 50 % : 5 000 € accepté, 5 000,01 € refusé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Use case pur dans Core : plafond + unicité. Le widget rendu dans le chat est généré par marqueur.</a:t>
            </a:r>
          </a:p>
        </p:txBody>
      </p:sp>
      <p:sp>
        <p:nvSpPr>
          <p:cNvPr id="11" name="av_0"/>
          <p:cNvSpPr/>
          <p:nvPr/>
        </p:nvSpPr>
        <p:spPr>
          <a:xfrm>
            <a:off x="4343400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304288"/>
            <a:ext cx="740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Chat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« avance de 2000 € »</a:t>
            </a:r>
          </a:p>
        </p:txBody>
      </p:sp>
      <p:sp>
        <p:nvSpPr>
          <p:cNvPr id="14" name="decor"/>
          <p:cNvSpPr/>
          <p:nvPr/>
        </p:nvSpPr>
        <p:spPr>
          <a:xfrm>
            <a:off x="5550408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v_1"/>
          <p:cNvSpPr/>
          <p:nvPr/>
        </p:nvSpPr>
        <p:spPr>
          <a:xfrm>
            <a:off x="5696712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5788152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5788152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intention + entités</a:t>
            </a:r>
          </a:p>
        </p:txBody>
      </p:sp>
      <p:sp>
        <p:nvSpPr>
          <p:cNvPr id="18" name="decor"/>
          <p:cNvSpPr/>
          <p:nvPr/>
        </p:nvSpPr>
        <p:spPr>
          <a:xfrm>
            <a:off x="6903720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v_2"/>
          <p:cNvSpPr/>
          <p:nvPr/>
        </p:nvSpPr>
        <p:spPr>
          <a:xfrm>
            <a:off x="7050024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7141464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7141464" y="257860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RBAC ✓</a:t>
            </a:r>
          </a:p>
        </p:txBody>
      </p:sp>
      <p:sp>
        <p:nvSpPr>
          <p:cNvPr id="22" name="decor"/>
          <p:cNvSpPr/>
          <p:nvPr/>
        </p:nvSpPr>
        <p:spPr>
          <a:xfrm>
            <a:off x="8257031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v_3"/>
          <p:cNvSpPr/>
          <p:nvPr/>
        </p:nvSpPr>
        <p:spPr>
          <a:xfrm>
            <a:off x="8403336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8494776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Use Case Core</a:t>
            </a:r>
          </a:p>
        </p:txBody>
      </p:sp>
      <p:sp>
        <p:nvSpPr>
          <p:cNvPr id="25" name="corps"/>
          <p:cNvSpPr txBox="1"/>
          <p:nvPr/>
        </p:nvSpPr>
        <p:spPr>
          <a:xfrm>
            <a:off x="8494776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cap 50 % + unicité</a:t>
            </a:r>
          </a:p>
        </p:txBody>
      </p:sp>
      <p:sp>
        <p:nvSpPr>
          <p:cNvPr id="26" name="decor"/>
          <p:cNvSpPr/>
          <p:nvPr/>
        </p:nvSpPr>
        <p:spPr>
          <a:xfrm>
            <a:off x="9610344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v_4"/>
          <p:cNvSpPr/>
          <p:nvPr/>
        </p:nvSpPr>
        <p:spPr>
          <a:xfrm>
            <a:off x="9756648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659ED4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rps"/>
          <p:cNvSpPr txBox="1"/>
          <p:nvPr/>
        </p:nvSpPr>
        <p:spPr>
          <a:xfrm>
            <a:off x="9848088" y="230428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WIDGET</a:t>
            </a:r>
          </a:p>
        </p:txBody>
      </p:sp>
      <p:sp>
        <p:nvSpPr>
          <p:cNvPr id="29" name="corps"/>
          <p:cNvSpPr txBox="1"/>
          <p:nvPr/>
        </p:nvSpPr>
        <p:spPr>
          <a:xfrm>
            <a:off x="9848088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carte dans le chat</a:t>
            </a:r>
          </a:p>
        </p:txBody>
      </p:sp>
      <p:sp>
        <p:nvSpPr>
          <p:cNvPr id="30" name="cap"/>
          <p:cNvSpPr/>
          <p:nvPr/>
        </p:nvSpPr>
        <p:spPr>
          <a:xfrm>
            <a:off x="4343400" y="3657600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rps"/>
          <p:cNvSpPr txBox="1"/>
          <p:nvPr/>
        </p:nvSpPr>
        <p:spPr>
          <a:xfrm>
            <a:off x="4434840" y="3767328"/>
            <a:ext cx="42108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8FC1F0"/>
                </a:solidFill>
                <a:latin typeface="Inter"/>
              </a:rPr>
              <a:t>5 000 € accepté  ·  5 000,01 € refusé</a:t>
            </a:r>
          </a:p>
        </p:txBody>
      </p:sp>
      <p:sp>
        <p:nvSpPr>
          <p:cNvPr id="32" name="cap_0"/>
          <p:cNvSpPr/>
          <p:nvPr/>
        </p:nvSpPr>
        <p:spPr>
          <a:xfrm>
            <a:off x="685800" y="5486400"/>
            <a:ext cx="3383280" cy="777240"/>
          </a:xfrm>
          <a:prstGeom prst="roundRect">
            <a:avLst>
              <a:gd name="adj" fmla="val 14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p_v"/>
          <p:cNvSpPr txBox="1"/>
          <p:nvPr/>
        </p:nvSpPr>
        <p:spPr>
          <a:xfrm>
            <a:off x="86868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8FC1F0"/>
                </a:solidFill>
                <a:latin typeface="Inter"/>
              </a:rPr>
              <a:t>50 %</a:t>
            </a:r>
          </a:p>
        </p:txBody>
      </p:sp>
      <p:sp>
        <p:nvSpPr>
          <p:cNvPr id="34" name="cap_l"/>
          <p:cNvSpPr txBox="1"/>
          <p:nvPr/>
        </p:nvSpPr>
        <p:spPr>
          <a:xfrm>
            <a:off x="868680" y="5943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0BF"/>
                </a:solidFill>
                <a:latin typeface="Inter"/>
              </a:rPr>
              <a:t>Cap sur le salaire net</a:t>
            </a:r>
          </a:p>
        </p:txBody>
      </p:sp>
      <p:sp>
        <p:nvSpPr>
          <p:cNvPr id="35" name="cap_1"/>
          <p:cNvSpPr/>
          <p:nvPr/>
        </p:nvSpPr>
        <p:spPr>
          <a:xfrm>
            <a:off x="4343400" y="5486400"/>
            <a:ext cx="3383280" cy="777240"/>
          </a:xfrm>
          <a:prstGeom prst="roundRect">
            <a:avLst>
              <a:gd name="adj" fmla="val 14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p_v"/>
          <p:cNvSpPr txBox="1"/>
          <p:nvPr/>
        </p:nvSpPr>
        <p:spPr>
          <a:xfrm>
            <a:off x="452628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8FC1F0"/>
                </a:solidFill>
                <a:latin typeface="Inter"/>
              </a:rPr>
              <a:t>1</a:t>
            </a:r>
          </a:p>
        </p:txBody>
      </p:sp>
      <p:sp>
        <p:nvSpPr>
          <p:cNvPr id="37" name="cap_l"/>
          <p:cNvSpPr txBox="1"/>
          <p:nvPr/>
        </p:nvSpPr>
        <p:spPr>
          <a:xfrm>
            <a:off x="4526280" y="5943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0BF"/>
                </a:solidFill>
                <a:latin typeface="Inter"/>
              </a:rPr>
              <a:t>Seul Pending par employé</a:t>
            </a:r>
          </a:p>
        </p:txBody>
      </p:sp>
      <p:sp>
        <p:nvSpPr>
          <p:cNvPr id="3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14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5" grpId="1"/>
              <p:bldP spid="19" grpId="2"/>
              <p:bldP spid="23" grpId="3"/>
              <p:bldP spid="27" grpId="4"/>
              <p:bldP spid="30" grpId="5"/>
              <p:bldP spid="32" grpId="5"/>
              <p:bldP spid="33" grpId="5"/>
              <p:bldP spid="34" grpId="5"/>
              <p:bldP spid="35" grpId="5"/>
              <p:bldP spid="36" grpId="5"/>
              <p:bldP spid="37" grpId="5"/>
            </p:bldLst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 JWT ne quitte jamais le serveur : BFF en cookie httpOnly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Le navigateur ne voit aucun token. Le BFF proxifie et injecte l'en-tête côté serveur.</a:t>
            </a:r>
          </a:p>
        </p:txBody>
      </p:sp>
      <p:sp>
        <p:nvSpPr>
          <p:cNvPr id="11" name="mockup"/>
          <p:cNvSpPr/>
          <p:nvPr/>
        </p:nvSpPr>
        <p:spPr>
          <a:xfrm>
            <a:off x="4343400" y="18288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ockup_bar"/>
          <p:cNvSpPr/>
          <p:nvPr/>
        </p:nvSpPr>
        <p:spPr>
          <a:xfrm>
            <a:off x="4379976" y="1865376"/>
            <a:ext cx="3310128" cy="310896"/>
          </a:xfrm>
          <a:prstGeom prst="roundRect">
            <a:avLst>
              <a:gd name="adj" fmla="val 12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47672"/>
            <a:ext cx="100584" cy="100584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47672"/>
            <a:ext cx="100584" cy="100584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47672"/>
            <a:ext cx="100584" cy="100584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te"/>
          <p:cNvSpPr/>
          <p:nvPr/>
        </p:nvSpPr>
        <p:spPr>
          <a:xfrm>
            <a:off x="4434840" y="2368296"/>
            <a:ext cx="3200400" cy="21945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05840"/>
          <a:lstStyle/>
          <a:p>
            <a:pPr algn="ctr"/>
            <a:r>
              <a:rPr sz="1300" b="0">
                <a:solidFill>
                  <a:srgbClr val="93A0BF"/>
                </a:solidFill>
                <a:latin typeface="Inter"/>
              </a:rPr>
              <a:t>Emplacement réservé — capture à insérer</a:t>
            </a:r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88336"/>
            <a:ext cx="548640" cy="548640"/>
          </a:xfrm>
          <a:prstGeom prst="rect">
            <a:avLst/>
          </a:prstGeom>
        </p:spPr>
      </p:pic>
      <p:sp>
        <p:nvSpPr>
          <p:cNvPr id="18" name="caption"/>
          <p:cNvSpPr txBox="1"/>
          <p:nvPr/>
        </p:nvSpPr>
        <p:spPr>
          <a:xfrm>
            <a:off x="4343400" y="479145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6B8C"/>
                </a:solidFill>
                <a:latin typeface="Inter"/>
              </a:rPr>
              <a:t>Chat AGIRH — discussion</a:t>
            </a:r>
          </a:p>
        </p:txBody>
      </p:sp>
      <p:sp>
        <p:nvSpPr>
          <p:cNvPr id="19" name="mockup"/>
          <p:cNvSpPr/>
          <p:nvPr/>
        </p:nvSpPr>
        <p:spPr>
          <a:xfrm>
            <a:off x="8092440" y="18288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ockup_bar"/>
          <p:cNvSpPr/>
          <p:nvPr/>
        </p:nvSpPr>
        <p:spPr>
          <a:xfrm>
            <a:off x="8129016" y="1865376"/>
            <a:ext cx="3310128" cy="310896"/>
          </a:xfrm>
          <a:prstGeom prst="roundRect">
            <a:avLst>
              <a:gd name="adj" fmla="val 12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8412480" y="1947672"/>
            <a:ext cx="100584" cy="100584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cor"/>
          <p:cNvSpPr/>
          <p:nvPr/>
        </p:nvSpPr>
        <p:spPr>
          <a:xfrm>
            <a:off x="8695944" y="1947672"/>
            <a:ext cx="100584" cy="100584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8979408" y="1947672"/>
            <a:ext cx="100584" cy="100584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te"/>
          <p:cNvSpPr/>
          <p:nvPr/>
        </p:nvSpPr>
        <p:spPr>
          <a:xfrm>
            <a:off x="8183880" y="2368296"/>
            <a:ext cx="3200400" cy="21945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05840"/>
          <a:lstStyle/>
          <a:p>
            <a:pPr algn="ctr"/>
            <a:r>
              <a:rPr sz="1300" b="0">
                <a:solidFill>
                  <a:srgbClr val="93A0BF"/>
                </a:solidFill>
                <a:latin typeface="Inter"/>
              </a:rPr>
              <a:t>Emplacement réservé — capture à insérer</a:t>
            </a:r>
          </a:p>
        </p:txBody>
      </p:sp>
      <p:pic>
        <p:nvPicPr>
          <p:cNvPr id="25" name="Picture 24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688336"/>
            <a:ext cx="548640" cy="548640"/>
          </a:xfrm>
          <a:prstGeom prst="rect">
            <a:avLst/>
          </a:prstGeom>
        </p:spPr>
      </p:pic>
      <p:sp>
        <p:nvSpPr>
          <p:cNvPr id="26" name="caption"/>
          <p:cNvSpPr txBox="1"/>
          <p:nvPr/>
        </p:nvSpPr>
        <p:spPr>
          <a:xfrm>
            <a:off x="8092440" y="479145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6B8C"/>
                </a:solidFill>
                <a:latin typeface="Inter"/>
              </a:rPr>
              <a:t>Widget avance sur salaire</a:t>
            </a:r>
          </a:p>
        </p:txBody>
      </p:sp>
      <p:sp>
        <p:nvSpPr>
          <p:cNvPr id="27" name="carte"/>
          <p:cNvSpPr/>
          <p:nvPr/>
        </p:nvSpPr>
        <p:spPr>
          <a:xfrm>
            <a:off x="434340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5221224"/>
            <a:ext cx="274320" cy="274320"/>
          </a:xfrm>
          <a:prstGeom prst="rect">
            <a:avLst/>
          </a:prstGeom>
        </p:spPr>
      </p:pic>
      <p:sp>
        <p:nvSpPr>
          <p:cNvPr id="29" name="carte_t"/>
          <p:cNvSpPr txBox="1"/>
          <p:nvPr/>
        </p:nvSpPr>
        <p:spPr>
          <a:xfrm>
            <a:off x="448970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103 → 206 kB</a:t>
            </a:r>
          </a:p>
        </p:txBody>
      </p:sp>
      <p:sp>
        <p:nvSpPr>
          <p:cNvPr id="30" name="carte_d"/>
          <p:cNvSpPr txBox="1"/>
          <p:nvPr/>
        </p:nvSpPr>
        <p:spPr>
          <a:xfrm>
            <a:off x="448970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First Load global → chat</a:t>
            </a:r>
          </a:p>
        </p:txBody>
      </p:sp>
      <p:sp>
        <p:nvSpPr>
          <p:cNvPr id="31" name="carte"/>
          <p:cNvSpPr/>
          <p:nvPr/>
        </p:nvSpPr>
        <p:spPr>
          <a:xfrm>
            <a:off x="679704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344" y="5221224"/>
            <a:ext cx="274320" cy="274320"/>
          </a:xfrm>
          <a:prstGeom prst="rect">
            <a:avLst/>
          </a:prstGeom>
        </p:spPr>
      </p:pic>
      <p:sp>
        <p:nvSpPr>
          <p:cNvPr id="33" name="carte_t"/>
          <p:cNvSpPr txBox="1"/>
          <p:nvPr/>
        </p:nvSpPr>
        <p:spPr>
          <a:xfrm>
            <a:off x="694334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≤ 10 re-rendus/s</a:t>
            </a:r>
          </a:p>
        </p:txBody>
      </p:sp>
      <p:sp>
        <p:nvSpPr>
          <p:cNvPr id="34" name="carte_d"/>
          <p:cNvSpPr txBox="1"/>
          <p:nvPr/>
        </p:nvSpPr>
        <p:spPr>
          <a:xfrm>
            <a:off x="694334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Streaming par lots</a:t>
            </a:r>
          </a:p>
        </p:txBody>
      </p:sp>
      <p:sp>
        <p:nvSpPr>
          <p:cNvPr id="35" name="carte"/>
          <p:cNvSpPr/>
          <p:nvPr/>
        </p:nvSpPr>
        <p:spPr>
          <a:xfrm>
            <a:off x="925068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984" y="5221224"/>
            <a:ext cx="274320" cy="274320"/>
          </a:xfrm>
          <a:prstGeom prst="rect">
            <a:avLst/>
          </a:prstGeom>
        </p:spPr>
      </p:pic>
      <p:sp>
        <p:nvSpPr>
          <p:cNvPr id="37" name="carte_t"/>
          <p:cNvSpPr txBox="1"/>
          <p:nvPr/>
        </p:nvSpPr>
        <p:spPr>
          <a:xfrm>
            <a:off x="939698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0 XSS</a:t>
            </a:r>
          </a:p>
        </p:txBody>
      </p:sp>
      <p:sp>
        <p:nvSpPr>
          <p:cNvPr id="38" name="carte_d"/>
          <p:cNvSpPr txBox="1"/>
          <p:nvPr/>
        </p:nvSpPr>
        <p:spPr>
          <a:xfrm>
            <a:off x="939698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Markdown sanitizé (liste blanche)</a:t>
            </a:r>
          </a:p>
        </p:txBody>
      </p:sp>
      <p:sp>
        <p:nvSpPr>
          <p:cNvPr id="3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15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1" grpId="0"/>
              <p:bldP spid="12" grpId="0"/>
              <p:bldP spid="19" grpId="0"/>
              <p:bldP spid="20" grpId="0"/>
            </p:bldLst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04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04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La Validation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Preuves mesurées, observabilité, passage à l'échelle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16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Des performances mesurées, reproductibles, prouvées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kpi_0"/>
          <p:cNvSpPr/>
          <p:nvPr/>
        </p:nvSpPr>
        <p:spPr>
          <a:xfrm>
            <a:off x="685800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868680" y="2103120"/>
            <a:ext cx="214884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_v"/>
          <p:cNvSpPr txBox="1"/>
          <p:nvPr/>
        </p:nvSpPr>
        <p:spPr>
          <a:xfrm>
            <a:off x="868680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8FC1F0"/>
                </a:solidFill>
                <a:latin typeface="Inter"/>
              </a:rPr>
              <a:t>90/90</a:t>
            </a:r>
          </a:p>
        </p:txBody>
      </p:sp>
      <p:sp>
        <p:nvSpPr>
          <p:cNvPr id="13" name="kpi_l"/>
          <p:cNvSpPr txBox="1"/>
          <p:nvPr/>
        </p:nvSpPr>
        <p:spPr>
          <a:xfrm>
            <a:off x="868680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tests xUnit verts · happy / boundary / security / failure</a:t>
            </a:r>
          </a:p>
        </p:txBody>
      </p:sp>
      <p:sp>
        <p:nvSpPr>
          <p:cNvPr id="14" name="kpi_1"/>
          <p:cNvSpPr/>
          <p:nvPr/>
        </p:nvSpPr>
        <p:spPr>
          <a:xfrm>
            <a:off x="3419856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3602736" y="2103120"/>
            <a:ext cx="214884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pi_v"/>
          <p:cNvSpPr txBox="1"/>
          <p:nvPr/>
        </p:nvSpPr>
        <p:spPr>
          <a:xfrm>
            <a:off x="3602736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E59B5F"/>
                </a:solidFill>
                <a:latin typeface="Inter"/>
              </a:rPr>
              <a:t>~30 ms</a:t>
            </a:r>
          </a:p>
        </p:txBody>
      </p:sp>
      <p:sp>
        <p:nvSpPr>
          <p:cNvPr id="17" name="kpi_l"/>
          <p:cNvSpPr txBox="1"/>
          <p:nvPr/>
        </p:nvSpPr>
        <p:spPr>
          <a:xfrm>
            <a:off x="3602736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par token, streaming SSE</a:t>
            </a:r>
          </a:p>
        </p:txBody>
      </p:sp>
      <p:sp>
        <p:nvSpPr>
          <p:cNvPr id="18" name="kpi_2"/>
          <p:cNvSpPr/>
          <p:nvPr/>
        </p:nvSpPr>
        <p:spPr>
          <a:xfrm>
            <a:off x="6153912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cor"/>
          <p:cNvSpPr/>
          <p:nvPr/>
        </p:nvSpPr>
        <p:spPr>
          <a:xfrm>
            <a:off x="6336792" y="2103120"/>
            <a:ext cx="214884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pi_v"/>
          <p:cNvSpPr txBox="1"/>
          <p:nvPr/>
        </p:nvSpPr>
        <p:spPr>
          <a:xfrm>
            <a:off x="6336792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8FC1F0"/>
                </a:solidFill>
                <a:latin typeface="Inter"/>
              </a:rPr>
              <a:t>&lt; 200 ms</a:t>
            </a:r>
          </a:p>
        </p:txBody>
      </p:sp>
      <p:sp>
        <p:nvSpPr>
          <p:cNvPr id="21" name="kpi_l"/>
          <p:cNvSpPr txBox="1"/>
          <p:nvPr/>
        </p:nvSpPr>
        <p:spPr>
          <a:xfrm>
            <a:off x="6336792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salutations pré-LLM</a:t>
            </a:r>
          </a:p>
        </p:txBody>
      </p:sp>
      <p:sp>
        <p:nvSpPr>
          <p:cNvPr id="22" name="kpi_3"/>
          <p:cNvSpPr/>
          <p:nvPr/>
        </p:nvSpPr>
        <p:spPr>
          <a:xfrm>
            <a:off x="8887968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9070848" y="2103120"/>
            <a:ext cx="214884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pi_v"/>
          <p:cNvSpPr txBox="1"/>
          <p:nvPr/>
        </p:nvSpPr>
        <p:spPr>
          <a:xfrm>
            <a:off x="9070848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E59B5F"/>
                </a:solidFill>
                <a:latin typeface="Inter"/>
              </a:rPr>
              <a:t>103 → 206 kB</a:t>
            </a:r>
          </a:p>
        </p:txBody>
      </p:sp>
      <p:sp>
        <p:nvSpPr>
          <p:cNvPr id="25" name="kpi_l"/>
          <p:cNvSpPr txBox="1"/>
          <p:nvPr/>
        </p:nvSpPr>
        <p:spPr>
          <a:xfrm>
            <a:off x="9070848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First Load global → chat</a:t>
            </a:r>
          </a:p>
        </p:txBody>
      </p:sp>
      <p:sp>
        <p:nvSpPr>
          <p:cNvPr id="26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17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0000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bldLst>
              <p:bldP spid="10" grpId="0"/>
              <p:bldP spid="14" grpId="1"/>
              <p:bldP spid="18" grpId="2"/>
              <p:bldP spid="22" grpId="3"/>
            </p:bldLst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Industrialisation : de la démo au déploiement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Conteneuriser l'API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Image .NET pour déploiement serveur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Tests JS automatisés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vitest + React Testing Library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CSP nonce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Durcir script-src en production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Observabilité LLM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Temps par agent, coûts, taux de rejet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Multi-modèles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Router selon le besoin métier</a:t>
            </a:r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18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Un assistant RH agentique, sécurisé, prêt à l'industrialisation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Backend hexagonal, pipeline Actor-Critic, RAG vectoriel 768d, frontend Next.js BFF, 90 tests verts, audits V5+V6 GO.</a:t>
            </a:r>
          </a:p>
        </p:txBody>
      </p:sp>
      <p:sp>
        <p:nvSpPr>
          <p:cNvPr id="11" name="carte"/>
          <p:cNvSpPr/>
          <p:nvPr/>
        </p:nvSpPr>
        <p:spPr>
          <a:xfrm>
            <a:off x="434340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445312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066544"/>
            <a:ext cx="274320" cy="274320"/>
          </a:xfrm>
          <a:prstGeom prst="rect">
            <a:avLst/>
          </a:prstGeom>
        </p:spPr>
      </p:pic>
      <p:sp>
        <p:nvSpPr>
          <p:cNvPr id="14" name="carte_t"/>
          <p:cNvSpPr txBox="1"/>
          <p:nvPr/>
        </p:nvSpPr>
        <p:spPr>
          <a:xfrm>
            <a:off x="448970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Backend hexagonal</a:t>
            </a:r>
          </a:p>
        </p:txBody>
      </p:sp>
      <p:sp>
        <p:nvSpPr>
          <p:cNvPr id="15" name="carte_d"/>
          <p:cNvSpPr txBox="1"/>
          <p:nvPr/>
        </p:nvSpPr>
        <p:spPr>
          <a:xfrm>
            <a:off x="448970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.NET 8 · Domain pur</a:t>
            </a:r>
          </a:p>
        </p:txBody>
      </p:sp>
      <p:sp>
        <p:nvSpPr>
          <p:cNvPr id="16" name="carte"/>
          <p:cNvSpPr/>
          <p:nvPr/>
        </p:nvSpPr>
        <p:spPr>
          <a:xfrm>
            <a:off x="679704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44" y="2066544"/>
            <a:ext cx="274320" cy="274320"/>
          </a:xfrm>
          <a:prstGeom prst="rect">
            <a:avLst/>
          </a:prstGeom>
        </p:spPr>
      </p:pic>
      <p:sp>
        <p:nvSpPr>
          <p:cNvPr id="18" name="carte_t"/>
          <p:cNvSpPr txBox="1"/>
          <p:nvPr/>
        </p:nvSpPr>
        <p:spPr>
          <a:xfrm>
            <a:off x="694334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Pipeline 4 agents</a:t>
            </a:r>
          </a:p>
        </p:txBody>
      </p:sp>
      <p:sp>
        <p:nvSpPr>
          <p:cNvPr id="19" name="carte_d"/>
          <p:cNvSpPr txBox="1"/>
          <p:nvPr/>
        </p:nvSpPr>
        <p:spPr>
          <a:xfrm>
            <a:off x="694334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Actor-Critic fiabilisé</a:t>
            </a:r>
          </a:p>
        </p:txBody>
      </p:sp>
      <p:sp>
        <p:nvSpPr>
          <p:cNvPr id="20" name="carte"/>
          <p:cNvSpPr/>
          <p:nvPr/>
        </p:nvSpPr>
        <p:spPr>
          <a:xfrm>
            <a:off x="925068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936040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984" y="2066544"/>
            <a:ext cx="274320" cy="274320"/>
          </a:xfrm>
          <a:prstGeom prst="rect">
            <a:avLst/>
          </a:prstGeom>
        </p:spPr>
      </p:pic>
      <p:sp>
        <p:nvSpPr>
          <p:cNvPr id="23" name="carte_t"/>
          <p:cNvSpPr txBox="1"/>
          <p:nvPr/>
        </p:nvSpPr>
        <p:spPr>
          <a:xfrm>
            <a:off x="939698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RAG vectoriel</a:t>
            </a:r>
          </a:p>
        </p:txBody>
      </p:sp>
      <p:sp>
        <p:nvSpPr>
          <p:cNvPr id="24" name="carte_d"/>
          <p:cNvSpPr txBox="1"/>
          <p:nvPr/>
        </p:nvSpPr>
        <p:spPr>
          <a:xfrm>
            <a:off x="939698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vector(768) natif SQL 2025</a:t>
            </a:r>
          </a:p>
        </p:txBody>
      </p:sp>
      <p:sp>
        <p:nvSpPr>
          <p:cNvPr id="25" name="carte"/>
          <p:cNvSpPr/>
          <p:nvPr/>
        </p:nvSpPr>
        <p:spPr>
          <a:xfrm>
            <a:off x="4343400" y="404622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4192524"/>
            <a:ext cx="274320" cy="274320"/>
          </a:xfrm>
          <a:prstGeom prst="rect">
            <a:avLst/>
          </a:prstGeom>
        </p:spPr>
      </p:pic>
      <p:sp>
        <p:nvSpPr>
          <p:cNvPr id="27" name="carte_t"/>
          <p:cNvSpPr txBox="1"/>
          <p:nvPr/>
        </p:nvSpPr>
        <p:spPr>
          <a:xfrm>
            <a:off x="4489704" y="45217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90/90 tests</a:t>
            </a:r>
          </a:p>
        </p:txBody>
      </p:sp>
      <p:sp>
        <p:nvSpPr>
          <p:cNvPr id="28" name="carte_d"/>
          <p:cNvSpPr txBox="1"/>
          <p:nvPr/>
        </p:nvSpPr>
        <p:spPr>
          <a:xfrm>
            <a:off x="4489704" y="481431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audits V5 + V6 GO</a:t>
            </a:r>
          </a:p>
        </p:txBody>
      </p:sp>
      <p:sp>
        <p:nvSpPr>
          <p:cNvPr id="2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19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re"/>
          <p:cNvSpPr txBox="1"/>
          <p:nvPr/>
        </p:nvSpPr>
        <p:spPr>
          <a:xfrm>
            <a:off x="1523847" y="265176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0" w="800">
                <a:solidFill>
                  <a:srgbClr val="E6EDF7"/>
                </a:solidFill>
                <a:latin typeface="Inter"/>
              </a:rPr>
              <a:t>Merci</a:t>
            </a:r>
          </a:p>
        </p:txBody>
      </p:sp>
      <p:sp>
        <p:nvSpPr>
          <p:cNvPr id="9" name="corps"/>
          <p:cNvSpPr txBox="1"/>
          <p:nvPr/>
        </p:nvSpPr>
        <p:spPr>
          <a:xfrm>
            <a:off x="1523847" y="3931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w="600">
                <a:solidFill>
                  <a:srgbClr val="8FC1F0"/>
                </a:solidFill>
                <a:latin typeface="Inter"/>
              </a:rPr>
              <a:t>Questions ?</a:t>
            </a:r>
          </a:p>
        </p:txBody>
      </p:sp>
      <p:pic>
        <p:nvPicPr>
          <p:cNvPr id="10" name="Picture 9" descr="ensa_white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4846320"/>
            <a:ext cx="4267200" cy="685800"/>
          </a:xfrm>
          <a:prstGeom prst="rect">
            <a:avLst/>
          </a:prstGeom>
        </p:spPr>
      </p:pic>
      <p:pic>
        <p:nvPicPr>
          <p:cNvPr id="11" name="Picture 10" descr="agirh_white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758" y="4846320"/>
            <a:ext cx="1350168" cy="685800"/>
          </a:xfrm>
          <a:prstGeom prst="rect">
            <a:avLst/>
          </a:prstGeom>
        </p:spPr>
      </p:pic>
      <p:sp>
        <p:nvSpPr>
          <p:cNvPr id="12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20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A — Modèle de données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ent_0"/>
          <p:cNvSpPr/>
          <p:nvPr/>
        </p:nvSpPr>
        <p:spPr>
          <a:xfrm>
            <a:off x="685800" y="192024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rps"/>
          <p:cNvSpPr txBox="1"/>
          <p:nvPr/>
        </p:nvSpPr>
        <p:spPr>
          <a:xfrm>
            <a:off x="777240" y="2029968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Employee</a:t>
            </a:r>
          </a:p>
        </p:txBody>
      </p:sp>
      <p:sp>
        <p:nvSpPr>
          <p:cNvPr id="12" name="corps"/>
          <p:cNvSpPr txBox="1"/>
          <p:nvPr/>
        </p:nvSpPr>
        <p:spPr>
          <a:xfrm>
            <a:off x="777240" y="230428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rôles · hiérarchie · solde</a:t>
            </a:r>
          </a:p>
        </p:txBody>
      </p:sp>
      <p:sp>
        <p:nvSpPr>
          <p:cNvPr id="13" name="ent_1"/>
          <p:cNvSpPr/>
          <p:nvPr/>
        </p:nvSpPr>
        <p:spPr>
          <a:xfrm>
            <a:off x="4480560" y="192024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4572000" y="20299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LeaveRequest</a:t>
            </a:r>
          </a:p>
        </p:txBody>
      </p:sp>
      <p:sp>
        <p:nvSpPr>
          <p:cNvPr id="15" name="corps"/>
          <p:cNvSpPr txBox="1"/>
          <p:nvPr/>
        </p:nvSpPr>
        <p:spPr>
          <a:xfrm>
            <a:off x="4572000" y="2304288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congés / CET · statuts</a:t>
            </a:r>
          </a:p>
        </p:txBody>
      </p:sp>
      <p:sp>
        <p:nvSpPr>
          <p:cNvPr id="16" name="ent_2"/>
          <p:cNvSpPr/>
          <p:nvPr/>
        </p:nvSpPr>
        <p:spPr>
          <a:xfrm>
            <a:off x="685800" y="324612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rps"/>
          <p:cNvSpPr txBox="1"/>
          <p:nvPr/>
        </p:nvSpPr>
        <p:spPr>
          <a:xfrm>
            <a:off x="777240" y="33558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SalaryAdvanceRequest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777240" y="3630168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plafond 50 % · 1 Pending</a:t>
            </a:r>
          </a:p>
        </p:txBody>
      </p:sp>
      <p:sp>
        <p:nvSpPr>
          <p:cNvPr id="19" name="ent_3"/>
          <p:cNvSpPr/>
          <p:nvPr/>
        </p:nvSpPr>
        <p:spPr>
          <a:xfrm>
            <a:off x="4480560" y="324612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2C4C9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4572000" y="3355848"/>
            <a:ext cx="21076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KnowledgeDocument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4572000" y="3630168"/>
            <a:ext cx="21076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vector(768) · RAG</a:t>
            </a:r>
          </a:p>
        </p:txBody>
      </p:sp>
      <p:sp>
        <p:nvSpPr>
          <p:cNvPr id="22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21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B — TOCTOU en détail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de"/>
          <p:cNvSpPr/>
          <p:nvPr/>
        </p:nvSpPr>
        <p:spPr>
          <a:xfrm>
            <a:off x="685800" y="1920240"/>
            <a:ext cx="7132320" cy="19659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_header"/>
          <p:cNvSpPr/>
          <p:nvPr/>
        </p:nvSpPr>
        <p:spPr>
          <a:xfrm>
            <a:off x="685800" y="192024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1005840" y="207568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1289304" y="207568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1572768" y="207568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cker"/>
          <p:cNvSpPr txBox="1"/>
          <p:nvPr/>
        </p:nvSpPr>
        <p:spPr>
          <a:xfrm>
            <a:off x="2057400" y="20299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Migration 20260731182015.sql</a:t>
            </a:r>
          </a:p>
        </p:txBody>
      </p:sp>
      <p:sp>
        <p:nvSpPr>
          <p:cNvPr id="16" name="code_body"/>
          <p:cNvSpPr/>
          <p:nvPr/>
        </p:nvSpPr>
        <p:spPr>
          <a:xfrm>
            <a:off x="704088" y="2377440"/>
            <a:ext cx="7095744" cy="14630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CREATE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UNIQUE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INDEX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IX_SalaryAdvance_Pending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ON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SalaryAdvanceRequest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EmployeeId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WHERE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Status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89DDFF"/>
                </a:solidFill>
                <a:latin typeface="JetBrains Mono"/>
              </a:rPr>
              <a:t>'Pending'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-- 2e requête simultanée → rejet</a:t>
            </a:r>
          </a:p>
        </p:txBody>
      </p:sp>
      <p:sp>
        <p:nvSpPr>
          <p:cNvPr id="1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22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C — Inventaire des tests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Avance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16 tests · cap + TOCTOU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11 fail-closed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11 RBAC + scope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Conversations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13 · limites 3/5/7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Salutations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5 · pré-LLM</a:t>
            </a:r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23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D — Migrations EF Core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InitialCreate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Entités de base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Payroll+Avance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vector(768)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Conversations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Historique chat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UniquePending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Index filtré TOCTOU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24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E — Résilience (Polly)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300 s · retry 3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Synthèse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120 s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120 s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Embedding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180 s · cancellation jamais rejouée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25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F — Événements SSE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Création / attachement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token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Replay ~ 30 ms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denied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Déni RBAC · bulle orange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done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Fin normale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26 / 26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